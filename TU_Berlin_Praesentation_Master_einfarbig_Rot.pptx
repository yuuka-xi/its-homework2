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1"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embeddedFontLst>
    <p:embeddedFont>
      <p:font typeface="Roboto" panose="02000000000000000000" pitchFamily="2" charset="0"/>
      <p:regular r:id="rId13"/>
      <p:bold r:id="rId14"/>
      <p:italic r:id="rId15"/>
      <p:boldItalic r:id="rId16"/>
    </p:embeddedFont>
    <p:embeddedFont>
      <p:font typeface="等线" panose="02010600030101010101" pitchFamily="2" charset="-122"/>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zMhv6zimllWgeokokK1Fmtwlq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8D25FB-97F6-4ED2-9C48-11C8622453E8}">
  <a:tblStyle styleId="{178D25FB-97F6-4ED2-9C48-11C8622453E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85" autoAdjust="0"/>
  </p:normalViewPr>
  <p:slideViewPr>
    <p:cSldViewPr snapToGrid="0">
      <p:cViewPr varScale="1">
        <p:scale>
          <a:sx n="67" d="100"/>
          <a:sy n="67" d="100"/>
        </p:scale>
        <p:origin x="62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3.fntdata"/><Relationship Id="rId23" Type="http://customschemas.google.com/relationships/presentationmetadata" Target="metadata"/><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t>Hello </a:t>
            </a:r>
            <a:r>
              <a:rPr lang="en-US" altLang="zh-CN" dirty="0" err="1"/>
              <a:t>erveyone</a:t>
            </a:r>
            <a:r>
              <a:rPr lang="en-US" altLang="zh-CN" dirty="0"/>
              <a:t> we are Group C and this is our process of design a sustainable DRT service </a:t>
            </a:r>
            <a:r>
              <a:rPr lang="en-US" altLang="zh-CN"/>
              <a:t>for Cottbus </a:t>
            </a:r>
            <a:endParaRPr dirty="0"/>
          </a:p>
        </p:txBody>
      </p:sp>
      <p:sp>
        <p:nvSpPr>
          <p:cNvPr id="41" name="Google Shape;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First, we defined what we wanted to evaluate in the DRT system.</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We grouped the evaluation criteria into four domains: passenger experience, service reliability, operational efficiency, and environmental efficiency. In total, we used six criteria.</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For passenger experience, we looked at average waiting time, P95 waiting time, and total travel time.</a:t>
            </a:r>
            <a:br>
              <a:rPr lang="de-DE" sz="1300" dirty="0">
                <a:solidFill>
                  <a:srgbClr val="666666"/>
                </a:solidFill>
                <a:latin typeface="Roboto"/>
                <a:ea typeface="Roboto"/>
                <a:cs typeface="Roboto"/>
                <a:sym typeface="Roboto"/>
              </a:rPr>
            </a:br>
            <a:r>
              <a:rPr lang="de-DE" sz="1300" dirty="0">
                <a:solidFill>
                  <a:srgbClr val="666666"/>
                </a:solidFill>
                <a:latin typeface="Roboto"/>
                <a:ea typeface="Roboto"/>
                <a:cs typeface="Roboto"/>
                <a:sym typeface="Roboto"/>
              </a:rPr>
              <a:t>For service reliability, we used the number of rejected requests.</a:t>
            </a:r>
            <a:br>
              <a:rPr lang="de-DE" sz="1300" dirty="0">
                <a:solidFill>
                  <a:srgbClr val="666666"/>
                </a:solidFill>
                <a:latin typeface="Roboto"/>
                <a:ea typeface="Roboto"/>
                <a:cs typeface="Roboto"/>
                <a:sym typeface="Roboto"/>
              </a:rPr>
            </a:br>
            <a:r>
              <a:rPr lang="de-DE" sz="1300" dirty="0">
                <a:solidFill>
                  <a:srgbClr val="666666"/>
                </a:solidFill>
                <a:latin typeface="Roboto"/>
                <a:ea typeface="Roboto"/>
                <a:cs typeface="Roboto"/>
                <a:sym typeface="Roboto"/>
              </a:rPr>
              <a:t>For operational efficiency, we used the minimum idle vehicle share.</a:t>
            </a:r>
            <a:br>
              <a:rPr lang="de-DE" sz="1300" dirty="0">
                <a:solidFill>
                  <a:srgbClr val="666666"/>
                </a:solidFill>
                <a:latin typeface="Roboto"/>
                <a:ea typeface="Roboto"/>
                <a:cs typeface="Roboto"/>
                <a:sym typeface="Roboto"/>
              </a:rPr>
            </a:br>
            <a:r>
              <a:rPr lang="de-DE" sz="1300" dirty="0">
                <a:solidFill>
                  <a:srgbClr val="666666"/>
                </a:solidFill>
                <a:latin typeface="Roboto"/>
                <a:ea typeface="Roboto"/>
                <a:cs typeface="Roboto"/>
                <a:sym typeface="Roboto"/>
              </a:rPr>
              <a:t>For environmental efficiency, we used the ratio d_p over d_t, which means passenger-kilometres divided by vehicle-kilometres.</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A higher d_p/d_t value means that each vehicle-kilometre carries more passenger-kilometres. So it can reflect pooling and transport efficiency. However, it is not a direct emission indicator. It is only used as an approximate indicator for environmental efficiency.</a:t>
            </a:r>
            <a:endParaRPr sz="1300" dirty="0">
              <a:solidFill>
                <a:srgbClr val="666666"/>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br>
              <a:rPr lang="de-DE" sz="1300" dirty="0">
                <a:solidFill>
                  <a:srgbClr val="666666"/>
                </a:solidFill>
                <a:latin typeface="Roboto"/>
                <a:ea typeface="Roboto"/>
                <a:cs typeface="Roboto"/>
                <a:sym typeface="Roboto"/>
              </a:rPr>
            </a:b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Before choosing the final nine scenarios, we ran several preliminary experiments. We found that three parameters had a clear influence on the results: fleet size, vehicle capacity, and maximum waiting time.</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Fleet size affects vehicle supply and utilisation. Vehicle capacity affects pooling potential. Maximum waiting time affects both request acceptance and passenger waiting time.</a:t>
            </a:r>
            <a:endParaRPr sz="1300" dirty="0">
              <a:solidFill>
                <a:srgbClr val="666666"/>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sz="1300" dirty="0">
              <a:solidFill>
                <a:srgbClr val="666666"/>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300" dirty="0">
              <a:solidFill>
                <a:srgbClr val="666666"/>
              </a:solidFill>
              <a:latin typeface="Roboto"/>
              <a:ea typeface="Roboto"/>
              <a:cs typeface="Roboto"/>
              <a:sym typeface="Roboto"/>
            </a:endParaRPr>
          </a:p>
        </p:txBody>
      </p:sp>
      <p:sp>
        <p:nvSpPr>
          <p:cNvPr id="49" name="Google Shape;4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ee237ec3c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Based on these three parameters, we designed nine scenarios and compared their simulation results. The grey cells in the table show the best outcome for each criterion.</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However, no single scenario performs best in all criteria. Therefore, choosing the final scenario is a multi-criteria decision problem. To evaluate the trade-offs between different objectives, we used the Analytic Hierarchy Process, or AHP.</a:t>
            </a:r>
            <a:endParaRPr sz="1300" dirty="0">
              <a:solidFill>
                <a:srgbClr val="666666"/>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sz="1300" dirty="0">
              <a:solidFill>
                <a:srgbClr val="666666"/>
              </a:solidFill>
              <a:latin typeface="Roboto"/>
              <a:ea typeface="Roboto"/>
              <a:cs typeface="Roboto"/>
              <a:sym typeface="Roboto"/>
            </a:endParaRPr>
          </a:p>
        </p:txBody>
      </p:sp>
      <p:sp>
        <p:nvSpPr>
          <p:cNvPr id="57" name="Google Shape;57;g3ee237ec3c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ee237ec3c6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For each criterion, we compared the nine scenarios pairwise and created one alternative comparison matrix. Since we used six criteria, we created six matrices in total.</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For example, for average waiting time, a shorter waiting time gets a higher preference value. The relative differences between scenarios were mapped to Saaty’s 1-to-9 scale. The matrix also follows the reciprocal rule. For example, if S8 is rated 7 times better than S1, then S1 is rated 1 over 7 compared with S8.</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After that, we compared the six criteria with each other. Because we treated all criteria as equally important, the criteria comparison matrix was a 6-by-6 matrix filled with 1.</a:t>
            </a:r>
            <a:endParaRPr sz="1300" dirty="0">
              <a:solidFill>
                <a:srgbClr val="666666"/>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de-DE" sz="1300" dirty="0">
                <a:solidFill>
                  <a:srgbClr val="666666"/>
                </a:solidFill>
                <a:latin typeface="Roboto"/>
                <a:ea typeface="Roboto"/>
                <a:cs typeface="Roboto"/>
                <a:sym typeface="Roboto"/>
              </a:rPr>
              <a:t>Then we used R to calculate the AHP scores. As shown in the pie chart, S8 receives the highest overall score. Therefore, the following cost and pricing analysis is based on S8.</a:t>
            </a:r>
            <a:endParaRPr sz="1300" dirty="0">
              <a:solidFill>
                <a:srgbClr val="666666"/>
              </a:solidFill>
              <a:latin typeface="Roboto"/>
              <a:ea typeface="Roboto"/>
              <a:cs typeface="Roboto"/>
              <a:sym typeface="Roboto"/>
            </a:endParaRPr>
          </a:p>
          <a:p>
            <a:pPr marL="0" lvl="0" indent="0" algn="l" rtl="0">
              <a:spcBef>
                <a:spcPts val="1200"/>
              </a:spcBef>
              <a:spcAft>
                <a:spcPts val="0"/>
              </a:spcAft>
              <a:buClr>
                <a:schemeClr val="dk1"/>
              </a:buClr>
              <a:buSzPts val="1100"/>
              <a:buFont typeface="Arial"/>
              <a:buNone/>
            </a:pPr>
            <a:endParaRPr sz="1300" dirty="0">
              <a:solidFill>
                <a:srgbClr val="666666"/>
              </a:solidFill>
              <a:latin typeface="Roboto"/>
              <a:ea typeface="Roboto"/>
              <a:cs typeface="Roboto"/>
              <a:sym typeface="Roboto"/>
            </a:endParaRPr>
          </a:p>
        </p:txBody>
      </p:sp>
      <p:sp>
        <p:nvSpPr>
          <p:cNvPr id="63" name="Google Shape;63;g3ee237ec3c6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e237ec3c6_2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ee237ec3c6_2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sz="1100" dirty="0">
                <a:latin typeface="等线"/>
                <a:ea typeface="等线"/>
                <a:cs typeface="等线"/>
                <a:sym typeface="等线"/>
              </a:rPr>
              <a:t>We can also see some important trade-offs from the scenarios.</a:t>
            </a:r>
            <a:endParaRPr sz="1100" dirty="0">
              <a:latin typeface="等线"/>
              <a:ea typeface="等线"/>
              <a:cs typeface="等线"/>
              <a:sym typeface="等线"/>
            </a:endParaRPr>
          </a:p>
          <a:p>
            <a:pPr marL="0" lvl="0" indent="0" algn="l" rtl="0">
              <a:lnSpc>
                <a:spcPct val="115000"/>
              </a:lnSpc>
              <a:spcBef>
                <a:spcPts val="1200"/>
              </a:spcBef>
              <a:spcAft>
                <a:spcPts val="0"/>
              </a:spcAft>
              <a:buClr>
                <a:schemeClr val="dk1"/>
              </a:buClr>
              <a:buSzPts val="1100"/>
              <a:buFont typeface="Arial"/>
              <a:buNone/>
            </a:pPr>
            <a:r>
              <a:rPr lang="zh-CN" altLang="zh-CN" sz="1200" b="0" i="0" u="none" strike="noStrike" cap="none" dirty="0">
                <a:solidFill>
                  <a:schemeClr val="dk1"/>
                </a:solidFill>
                <a:effectLst/>
                <a:latin typeface="Calibri"/>
                <a:ea typeface="Calibri"/>
                <a:cs typeface="Calibri"/>
                <a:sym typeface="Calibri"/>
              </a:rPr>
              <a:t>The most interesting finding is that improving passenger experience does not automatically mean improving the whole system. A stricter maximum waiting time substantially reduces average and extreme waiting times, but it also creates rejected requests. Meanwhile, reducing the fleet size improves vehicle utilization but worsens passenger waiting time. Therefore, the best DRT design depends on whether the city prioritizes service quality, reliability, or operating cost.</a:t>
            </a:r>
            <a:endParaRPr sz="1100" dirty="0">
              <a:latin typeface="等线"/>
              <a:ea typeface="等线"/>
              <a:cs typeface="等线"/>
              <a:sym typeface="等线"/>
            </a:endParaRPr>
          </a:p>
          <a:p>
            <a:pPr marL="0" lvl="0" indent="0" algn="l" rtl="0">
              <a:spcBef>
                <a:spcPts val="0"/>
              </a:spcBef>
              <a:spcAft>
                <a:spcPts val="0"/>
              </a:spcAft>
              <a:buNone/>
            </a:pPr>
            <a:endParaRPr dirty="0"/>
          </a:p>
        </p:txBody>
      </p:sp>
      <p:sp>
        <p:nvSpPr>
          <p:cNvPr id="74" name="Google Shape;74;g3ee237ec3c6_2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ee237ec3c6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de-DE" dirty="0"/>
              <a:t>For the cost estimation, we use a simple three-variable cost model. So basically, we estimate the annual cost from three parts: vehicle-hours, vehicle-kilometres, and the number of vehicles.</a:t>
            </a:r>
            <a:endParaRPr dirty="0"/>
          </a:p>
          <a:p>
            <a:pPr marL="0" lvl="0" indent="0" algn="l" rtl="0">
              <a:lnSpc>
                <a:spcPct val="115000"/>
              </a:lnSpc>
              <a:spcBef>
                <a:spcPts val="1200"/>
              </a:spcBef>
              <a:spcAft>
                <a:spcPts val="0"/>
              </a:spcAft>
              <a:buNone/>
            </a:pPr>
            <a:r>
              <a:rPr lang="de-DE" dirty="0"/>
              <a:t>For the hourly cost, we assume 25 euros per vehicle-hour. This covers the driver wage and the employer-side contribution. For the distance-based cost, we use 0.917 euros per vehicle-kilometre, based on the cost data of our selected vehicle model. For the fixed vehicle cost, we use 841 euros per vehicle per month, including depreciation and insurance.</a:t>
            </a:r>
            <a:endParaRPr dirty="0"/>
          </a:p>
          <a:p>
            <a:pPr marL="0" lvl="0" indent="0" algn="l" rtl="0">
              <a:lnSpc>
                <a:spcPct val="115000"/>
              </a:lnSpc>
              <a:spcBef>
                <a:spcPts val="1200"/>
              </a:spcBef>
              <a:spcAft>
                <a:spcPts val="0"/>
              </a:spcAft>
              <a:buNone/>
            </a:pPr>
            <a:r>
              <a:rPr lang="de-DE" dirty="0"/>
              <a:t>We also add 10 percent on top of the direct cost for dispatching and back-office management costs. </a:t>
            </a:r>
            <a:endParaRPr dirty="0"/>
          </a:p>
          <a:p>
            <a:pPr marL="0" lvl="0" indent="0" algn="l" rtl="0">
              <a:lnSpc>
                <a:spcPct val="115000"/>
              </a:lnSpc>
              <a:spcBef>
                <a:spcPts val="1200"/>
              </a:spcBef>
              <a:spcAft>
                <a:spcPts val="0"/>
              </a:spcAft>
              <a:buNone/>
            </a:pPr>
            <a:r>
              <a:rPr lang="de-DE" dirty="0"/>
              <a:t>With these assumptions, the estimated annual total cost for S8 is about 65.09 million euros. Dividing this by the annual number of served rides, the cost per ride is about 17.8 euros per ride.</a:t>
            </a:r>
            <a:endParaRPr dirty="0"/>
          </a:p>
          <a:p>
            <a:pPr marL="0" lvl="0" indent="0" algn="l" rtl="0">
              <a:lnSpc>
                <a:spcPct val="115000"/>
              </a:lnSpc>
              <a:spcBef>
                <a:spcPts val="1200"/>
              </a:spcBef>
              <a:spcAft>
                <a:spcPts val="1200"/>
              </a:spcAft>
              <a:buNone/>
            </a:pPr>
            <a:endParaRPr dirty="0"/>
          </a:p>
        </p:txBody>
      </p:sp>
      <p:sp>
        <p:nvSpPr>
          <p:cNvPr id="80" name="Google Shape;80;g3ee237ec3c6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dirty="0"/>
              <a:t>Here we compare the full cost-recovery DRT fare with other transport options in Cottbus.</a:t>
            </a:r>
            <a:endParaRPr dirty="0"/>
          </a:p>
          <a:p>
            <a:pPr marL="0" lvl="0" indent="0" algn="l" rtl="0">
              <a:lnSpc>
                <a:spcPct val="115000"/>
              </a:lnSpc>
              <a:spcBef>
                <a:spcPts val="1200"/>
              </a:spcBef>
              <a:spcAft>
                <a:spcPts val="0"/>
              </a:spcAft>
              <a:buNone/>
            </a:pPr>
            <a:r>
              <a:rPr lang="de-DE" dirty="0"/>
              <a:t>To fully cover the operating cost, the DRT fare would need to be around 18 euros per ride. This is much higher than a normal public transport single ticket, which costs 2.70 euros. It is also higher than a 24-hour ticket and even higher than the estimated taxi fare.</a:t>
            </a:r>
            <a:endParaRPr dirty="0"/>
          </a:p>
          <a:p>
            <a:pPr marL="0" lvl="0" indent="0" algn="l" rtl="0">
              <a:lnSpc>
                <a:spcPct val="115000"/>
              </a:lnSpc>
              <a:spcBef>
                <a:spcPts val="1200"/>
              </a:spcBef>
              <a:spcAft>
                <a:spcPts val="0"/>
              </a:spcAft>
              <a:buClr>
                <a:schemeClr val="dk1"/>
              </a:buClr>
              <a:buSzPts val="1100"/>
              <a:buFont typeface="Arial"/>
              <a:buNone/>
            </a:pPr>
            <a:r>
              <a:rPr lang="de-DE" dirty="0"/>
              <a:t>So, although 18 euros would make the system financially sustainable, it is not competitive. Former bus users would very probably complain if they had to pay this price.</a:t>
            </a:r>
            <a:endParaRPr dirty="0"/>
          </a:p>
          <a:p>
            <a:pPr marL="0" lvl="0" indent="0" algn="l" rtl="0">
              <a:spcBef>
                <a:spcPts val="1200"/>
              </a:spcBef>
              <a:spcAft>
                <a:spcPts val="0"/>
              </a:spcAft>
              <a:buNone/>
            </a:pPr>
            <a:endParaRPr dirty="0"/>
          </a:p>
        </p:txBody>
      </p:sp>
      <p:sp>
        <p:nvSpPr>
          <p:cNvPr id="88" name="Google Shape;8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ee237ec3c6_1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de-DE" dirty="0"/>
              <a:t>In our cost estimation, driver cost accounts for about 67 percent of the total operating cost. This is the main problem.</a:t>
            </a:r>
            <a:endParaRPr dirty="0"/>
          </a:p>
          <a:p>
            <a:pPr marL="0" lvl="0" indent="0" algn="l" rtl="0">
              <a:lnSpc>
                <a:spcPct val="115000"/>
              </a:lnSpc>
              <a:spcBef>
                <a:spcPts val="1200"/>
              </a:spcBef>
              <a:spcAft>
                <a:spcPts val="0"/>
              </a:spcAft>
              <a:buClr>
                <a:schemeClr val="dk1"/>
              </a:buClr>
              <a:buSzPts val="1100"/>
              <a:buFont typeface="Arial"/>
              <a:buNone/>
            </a:pPr>
            <a:r>
              <a:rPr lang="de-DE" dirty="0"/>
              <a:t>To reduce the cost, we suggest- First, the city can use dynamic fleet operation, with more vehicles during peak hours and fewer vehicles off-peak. Second, the waiting-time target can be slightly relaxed, so fewer vehicles are required. Third, cheaper 4-seat or 6-seat vehicles can be used where demand is low. Finally, automated DRT could remove driver cost in the long term, although this is not a short-term solution.</a:t>
            </a:r>
            <a:endParaRPr dirty="0"/>
          </a:p>
          <a:p>
            <a:pPr marL="0" lvl="0" indent="0" algn="l" rtl="0">
              <a:spcBef>
                <a:spcPts val="1200"/>
              </a:spcBef>
              <a:spcAft>
                <a:spcPts val="0"/>
              </a:spcAft>
              <a:buNone/>
            </a:pPr>
            <a:endParaRPr dirty="0"/>
          </a:p>
        </p:txBody>
      </p:sp>
      <p:sp>
        <p:nvSpPr>
          <p:cNvPr id="96" name="Google Shape;96;g3ee237ec3c6_1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70B6C81C-28F5-9B26-C81C-E471F7CBCD4C}"/>
            </a:ext>
          </a:extLst>
        </p:cNvPr>
        <p:cNvGrpSpPr/>
        <p:nvPr/>
      </p:nvGrpSpPr>
      <p:grpSpPr>
        <a:xfrm>
          <a:off x="0" y="0"/>
          <a:ext cx="0" cy="0"/>
          <a:chOff x="0" y="0"/>
          <a:chExt cx="0" cy="0"/>
        </a:xfrm>
      </p:grpSpPr>
      <p:sp>
        <p:nvSpPr>
          <p:cNvPr id="95" name="Google Shape;95;g3ee237ec3c6_1_32:notes">
            <a:extLst>
              <a:ext uri="{FF2B5EF4-FFF2-40B4-BE49-F238E27FC236}">
                <a16:creationId xmlns:a16="http://schemas.microsoft.com/office/drawing/2014/main" id="{4A9222C7-CB61-3D59-8234-9BA88A10C62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96" name="Google Shape;96;g3ee237ec3c6_1_32:notes">
            <a:extLst>
              <a:ext uri="{FF2B5EF4-FFF2-40B4-BE49-F238E27FC236}">
                <a16:creationId xmlns:a16="http://schemas.microsoft.com/office/drawing/2014/main" id="{8B86833F-978D-F9DE-6000-8BFC168A99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2230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el - Text und Bild">
  <p:cSld name="1_Titel - Text und Bild">
    <p:spTree>
      <p:nvGrpSpPr>
        <p:cNvPr id="1" name="Shape 13"/>
        <p:cNvGrpSpPr/>
        <p:nvPr/>
      </p:nvGrpSpPr>
      <p:grpSpPr>
        <a:xfrm>
          <a:off x="0" y="0"/>
          <a:ext cx="0" cy="0"/>
          <a:chOff x="0" y="0"/>
          <a:chExt cx="0" cy="0"/>
        </a:xfrm>
      </p:grpSpPr>
      <p:sp>
        <p:nvSpPr>
          <p:cNvPr id="14" name="Google Shape;14;p7"/>
          <p:cNvSpPr>
            <a:spLocks noGrp="1"/>
          </p:cNvSpPr>
          <p:nvPr>
            <p:ph type="pic" idx="2"/>
          </p:nvPr>
        </p:nvSpPr>
        <p:spPr>
          <a:xfrm>
            <a:off x="-6479" y="1260572"/>
            <a:ext cx="8885359" cy="3273604"/>
          </a:xfrm>
          <a:prstGeom prst="rect">
            <a:avLst/>
          </a:prstGeom>
          <a:solidFill>
            <a:srgbClr val="434343"/>
          </a:solidFill>
          <a:ln>
            <a:noFill/>
          </a:ln>
        </p:spPr>
      </p:sp>
      <p:sp>
        <p:nvSpPr>
          <p:cNvPr id="15" name="Google Shape;15;p7"/>
          <p:cNvSpPr txBox="1"/>
          <p:nvPr/>
        </p:nvSpPr>
        <p:spPr>
          <a:xfrm>
            <a:off x="-2031023" y="2620375"/>
            <a:ext cx="2021305" cy="1785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1">
                <a:solidFill>
                  <a:schemeClr val="dk1"/>
                </a:solidFill>
                <a:latin typeface="Arial"/>
                <a:ea typeface="Arial"/>
                <a:cs typeface="Arial"/>
                <a:sym typeface="Arial"/>
              </a:rPr>
              <a:t>Platzhalterbild ersetzen:</a:t>
            </a:r>
            <a:br>
              <a:rPr lang="de-DE" sz="1000" b="1">
                <a:solidFill>
                  <a:schemeClr val="dk1"/>
                </a:solidFill>
                <a:latin typeface="Arial"/>
                <a:ea typeface="Arial"/>
                <a:cs typeface="Arial"/>
                <a:sym typeface="Arial"/>
              </a:rPr>
            </a:br>
            <a:r>
              <a:rPr lang="de-DE" sz="1000">
                <a:solidFill>
                  <a:schemeClr val="dk1"/>
                </a:solidFill>
                <a:latin typeface="Arial"/>
                <a:ea typeface="Arial"/>
                <a:cs typeface="Arial"/>
                <a:sym typeface="Arial"/>
              </a:rPr>
              <a:t>Bild löschen und durch neues Bild ersetzen &gt; über Bildformat &gt; Zuschneiden im Rahmen ggf. nachpositionieren</a:t>
            </a:r>
            <a:br>
              <a:rPr lang="de-DE" sz="1000">
                <a:solidFill>
                  <a:schemeClr val="dk1"/>
                </a:solidFill>
                <a:latin typeface="Arial"/>
                <a:ea typeface="Arial"/>
                <a:cs typeface="Arial"/>
                <a:sym typeface="Arial"/>
              </a:rPr>
            </a:br>
            <a:br>
              <a:rPr lang="de-DE" sz="1000">
                <a:solidFill>
                  <a:schemeClr val="dk1"/>
                </a:solidFill>
                <a:latin typeface="Arial"/>
                <a:ea typeface="Arial"/>
                <a:cs typeface="Arial"/>
                <a:sym typeface="Arial"/>
              </a:rPr>
            </a:br>
            <a:r>
              <a:rPr lang="de-DE" sz="1000" b="1">
                <a:solidFill>
                  <a:schemeClr val="dk1"/>
                </a:solidFill>
                <a:latin typeface="Arial"/>
                <a:ea typeface="Arial"/>
                <a:cs typeface="Arial"/>
                <a:sym typeface="Arial"/>
              </a:rPr>
              <a:t>Copyrightangabe: </a:t>
            </a:r>
            <a:br>
              <a:rPr lang="de-DE" sz="1000">
                <a:solidFill>
                  <a:schemeClr val="dk1"/>
                </a:solidFill>
                <a:latin typeface="Arial"/>
                <a:ea typeface="Arial"/>
                <a:cs typeface="Arial"/>
                <a:sym typeface="Arial"/>
              </a:rPr>
            </a:br>
            <a:r>
              <a:rPr lang="de-DE" sz="1000">
                <a:solidFill>
                  <a:schemeClr val="dk1"/>
                </a:solidFill>
                <a:latin typeface="Arial"/>
                <a:ea typeface="Arial"/>
                <a:cs typeface="Arial"/>
                <a:sym typeface="Arial"/>
              </a:rPr>
              <a:t>Korrektes Copyright angeben (in der Regel Name des*der Fotograf*in), Textfarbe je nach Hintergrund weiß oder schwarz</a:t>
            </a:r>
            <a:endParaRPr/>
          </a:p>
        </p:txBody>
      </p:sp>
      <p:sp>
        <p:nvSpPr>
          <p:cNvPr id="16" name="Google Shape;16;p7"/>
          <p:cNvSpPr txBox="1"/>
          <p:nvPr/>
        </p:nvSpPr>
        <p:spPr>
          <a:xfrm>
            <a:off x="9903" y="-313433"/>
            <a:ext cx="1703672"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a:solidFill>
                  <a:schemeClr val="dk1"/>
                </a:solidFill>
                <a:latin typeface="Arial"/>
                <a:ea typeface="Arial"/>
                <a:cs typeface="Arial"/>
                <a:sym typeface="Arial"/>
              </a:rPr>
              <a:t>V1: Titelfolie mit Bild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el - Text ">
  <p:cSld name="2_Titel - Text ">
    <p:spTree>
      <p:nvGrpSpPr>
        <p:cNvPr id="1" name="Shape 17"/>
        <p:cNvGrpSpPr/>
        <p:nvPr/>
      </p:nvGrpSpPr>
      <p:grpSpPr>
        <a:xfrm>
          <a:off x="0" y="0"/>
          <a:ext cx="0" cy="0"/>
          <a:chOff x="0" y="0"/>
          <a:chExt cx="0" cy="0"/>
        </a:xfrm>
      </p:grpSpPr>
      <p:sp>
        <p:nvSpPr>
          <p:cNvPr id="18" name="Google Shape;18;p8"/>
          <p:cNvSpPr txBox="1"/>
          <p:nvPr/>
        </p:nvSpPr>
        <p:spPr>
          <a:xfrm>
            <a:off x="9903" y="-313433"/>
            <a:ext cx="1703672"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a:solidFill>
                  <a:schemeClr val="dk1"/>
                </a:solidFill>
                <a:latin typeface="Arial"/>
                <a:ea typeface="Arial"/>
                <a:cs typeface="Arial"/>
                <a:sym typeface="Arial"/>
              </a:rPr>
              <a:t>V2: Titelfolie ohne Bild</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Inhalt - Text und Stichpunkte">
  <p:cSld name="3_Inhalt - Text und Stichpunkte">
    <p:spTree>
      <p:nvGrpSpPr>
        <p:cNvPr id="1" name="Shape 27"/>
        <p:cNvGrpSpPr/>
        <p:nvPr/>
      </p:nvGrpSpPr>
      <p:grpSpPr>
        <a:xfrm>
          <a:off x="0" y="0"/>
          <a:ext cx="0" cy="0"/>
          <a:chOff x="0" y="0"/>
          <a:chExt cx="0" cy="0"/>
        </a:xfrm>
      </p:grpSpPr>
      <p:sp>
        <p:nvSpPr>
          <p:cNvPr id="28" name="Google Shape;28;p10"/>
          <p:cNvSpPr txBox="1">
            <a:spLocks noGrp="1"/>
          </p:cNvSpPr>
          <p:nvPr>
            <p:ph type="body" idx="1"/>
          </p:nvPr>
        </p:nvSpPr>
        <p:spPr>
          <a:xfrm>
            <a:off x="550800" y="3175200"/>
            <a:ext cx="9721850" cy="2124075"/>
          </a:xfrm>
          <a:prstGeom prst="rect">
            <a:avLst/>
          </a:prstGeom>
          <a:noFill/>
          <a:ln>
            <a:noFill/>
          </a:ln>
        </p:spPr>
        <p:txBody>
          <a:bodyPr spcFirstLastPara="1" wrap="square" lIns="0" tIns="0" rIns="91425" bIns="45700" anchor="t" anchorCtr="0">
            <a:noAutofit/>
          </a:bodyPr>
          <a:lstStyle>
            <a:lvl1pPr marL="457200" marR="0" lvl="0" indent="-342900" algn="l" rtl="0">
              <a:lnSpc>
                <a:spcPct val="133333"/>
              </a:lnSpc>
              <a:spcBef>
                <a:spcPts val="10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1pPr>
            <a:lvl2pPr marL="914400" marR="0" lvl="1"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2pPr>
            <a:lvl3pPr marL="1371600" marR="0" lvl="2"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3pPr>
            <a:lvl4pPr marL="1828800" marR="0" lvl="3"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4pPr>
            <a:lvl5pPr marL="2286000" marR="0" lvl="4"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10"/>
          <p:cNvSpPr txBox="1">
            <a:spLocks noGrp="1"/>
          </p:cNvSpPr>
          <p:nvPr>
            <p:ph type="body" idx="2"/>
          </p:nvPr>
        </p:nvSpPr>
        <p:spPr>
          <a:xfrm>
            <a:off x="550800" y="1371600"/>
            <a:ext cx="9721850" cy="1526370"/>
          </a:xfrm>
          <a:prstGeom prst="rect">
            <a:avLst/>
          </a:prstGeom>
          <a:noFill/>
          <a:ln>
            <a:noFill/>
          </a:ln>
        </p:spPr>
        <p:txBody>
          <a:bodyPr spcFirstLastPara="1" wrap="square" lIns="0" tIns="0" rIns="0" bIns="0" anchor="t" anchorCtr="0">
            <a:noAutofit/>
          </a:bodyPr>
          <a:lstStyle>
            <a:lvl1pPr marL="457200" marR="0" lvl="0" indent="-228600" algn="l" rtl="0">
              <a:lnSpc>
                <a:spcPct val="133333"/>
              </a:lnSpc>
              <a:spcBef>
                <a:spcPts val="0"/>
              </a:spcBef>
              <a:spcAft>
                <a:spcPts val="0"/>
              </a:spcAft>
              <a:buClr>
                <a:srgbClr val="434343"/>
              </a:buClr>
              <a:buSzPts val="1800"/>
              <a:buFont typeface="Arial"/>
              <a:buNone/>
              <a:defRPr sz="1800" b="0" i="0" u="none" strike="noStrike" cap="none">
                <a:solidFill>
                  <a:srgbClr val="434343"/>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10"/>
          <p:cNvSpPr txBox="1">
            <a:spLocks noGrp="1"/>
          </p:cNvSpPr>
          <p:nvPr>
            <p:ph type="body" idx="3"/>
          </p:nvPr>
        </p:nvSpPr>
        <p:spPr>
          <a:xfrm>
            <a:off x="555867" y="396545"/>
            <a:ext cx="8311908" cy="717437"/>
          </a:xfrm>
          <a:prstGeom prst="rect">
            <a:avLst/>
          </a:prstGeom>
          <a:noFill/>
          <a:ln>
            <a:noFill/>
          </a:ln>
        </p:spPr>
        <p:txBody>
          <a:bodyPr spcFirstLastPara="1" wrap="square" lIns="0" tIns="0" rIns="0" bIns="0" anchor="b" anchorCtr="0">
            <a:noAutofit/>
          </a:bodyPr>
          <a:lstStyle>
            <a:lvl1pPr marL="457200" marR="0" lvl="0" indent="-228600" algn="l" rtl="0">
              <a:lnSpc>
                <a:spcPct val="116666"/>
              </a:lnSpc>
              <a:spcBef>
                <a:spcPts val="0"/>
              </a:spcBef>
              <a:spcAft>
                <a:spcPts val="0"/>
              </a:spcAft>
              <a:buClr>
                <a:srgbClr val="C40D1E"/>
              </a:buClr>
              <a:buSzPts val="2400"/>
              <a:buFont typeface="Arial"/>
              <a:buNone/>
              <a:defRPr sz="2400" b="0" i="0" u="none" strike="noStrike" cap="none">
                <a:solidFill>
                  <a:srgbClr val="C40D1E"/>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Inhalt - Bild und Text">
  <p:cSld name="4_Inhalt - Bild und Text">
    <p:spTree>
      <p:nvGrpSpPr>
        <p:cNvPr id="1" name="Shape 31"/>
        <p:cNvGrpSpPr/>
        <p:nvPr/>
      </p:nvGrpSpPr>
      <p:grpSpPr>
        <a:xfrm>
          <a:off x="0" y="0"/>
          <a:ext cx="0" cy="0"/>
          <a:chOff x="0" y="0"/>
          <a:chExt cx="0" cy="0"/>
        </a:xfrm>
      </p:grpSpPr>
      <p:sp>
        <p:nvSpPr>
          <p:cNvPr id="32" name="Google Shape;32;p11"/>
          <p:cNvSpPr txBox="1">
            <a:spLocks noGrp="1"/>
          </p:cNvSpPr>
          <p:nvPr>
            <p:ph type="body" idx="1"/>
          </p:nvPr>
        </p:nvSpPr>
        <p:spPr>
          <a:xfrm>
            <a:off x="6519600" y="1382400"/>
            <a:ext cx="3982945" cy="4093588"/>
          </a:xfrm>
          <a:prstGeom prst="rect">
            <a:avLst/>
          </a:prstGeom>
          <a:noFill/>
          <a:ln>
            <a:noFill/>
          </a:ln>
        </p:spPr>
        <p:txBody>
          <a:bodyPr spcFirstLastPara="1" wrap="square" lIns="0" tIns="0" rIns="0" bIns="0" anchor="t" anchorCtr="0">
            <a:noAutofit/>
          </a:bodyPr>
          <a:lstStyle>
            <a:lvl1pPr marL="457200" marR="0" lvl="0" indent="-228600" algn="l" rtl="0">
              <a:lnSpc>
                <a:spcPct val="133333"/>
              </a:lnSpc>
              <a:spcBef>
                <a:spcPts val="0"/>
              </a:spcBef>
              <a:spcAft>
                <a:spcPts val="0"/>
              </a:spcAft>
              <a:buClr>
                <a:srgbClr val="434343"/>
              </a:buClr>
              <a:buSzPts val="1800"/>
              <a:buFont typeface="Arial"/>
              <a:buNone/>
              <a:defRPr sz="1800" b="0" i="0" u="none" strike="noStrike" cap="none">
                <a:solidFill>
                  <a:srgbClr val="434343"/>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11"/>
          <p:cNvSpPr>
            <a:spLocks noGrp="1"/>
          </p:cNvSpPr>
          <p:nvPr>
            <p:ph type="pic" idx="2"/>
          </p:nvPr>
        </p:nvSpPr>
        <p:spPr>
          <a:xfrm>
            <a:off x="550861" y="1381405"/>
            <a:ext cx="5545139" cy="4093589"/>
          </a:xfrm>
          <a:prstGeom prst="rect">
            <a:avLst/>
          </a:prstGeom>
          <a:solidFill>
            <a:srgbClr val="434343"/>
          </a:solidFill>
          <a:ln>
            <a:noFill/>
          </a:ln>
        </p:spPr>
      </p:sp>
      <p:sp>
        <p:nvSpPr>
          <p:cNvPr id="34" name="Google Shape;34;p11"/>
          <p:cNvSpPr txBox="1">
            <a:spLocks noGrp="1"/>
          </p:cNvSpPr>
          <p:nvPr>
            <p:ph type="body" idx="3"/>
          </p:nvPr>
        </p:nvSpPr>
        <p:spPr>
          <a:xfrm>
            <a:off x="555867" y="396545"/>
            <a:ext cx="8311908" cy="717437"/>
          </a:xfrm>
          <a:prstGeom prst="rect">
            <a:avLst/>
          </a:prstGeom>
          <a:noFill/>
          <a:ln>
            <a:noFill/>
          </a:ln>
        </p:spPr>
        <p:txBody>
          <a:bodyPr spcFirstLastPara="1" wrap="square" lIns="0" tIns="0" rIns="0" bIns="0" anchor="b" anchorCtr="0">
            <a:noAutofit/>
          </a:bodyPr>
          <a:lstStyle>
            <a:lvl1pPr marL="457200" marR="0" lvl="0" indent="-228600" algn="l" rtl="0">
              <a:lnSpc>
                <a:spcPct val="116666"/>
              </a:lnSpc>
              <a:spcBef>
                <a:spcPts val="0"/>
              </a:spcBef>
              <a:spcAft>
                <a:spcPts val="0"/>
              </a:spcAft>
              <a:buClr>
                <a:srgbClr val="C40D1E"/>
              </a:buClr>
              <a:buSzPts val="2400"/>
              <a:buFont typeface="Arial"/>
              <a:buNone/>
              <a:defRPr sz="2400" b="0" i="0" u="none" strike="noStrike" cap="none">
                <a:solidFill>
                  <a:srgbClr val="C40D1E"/>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_Inhalt - Bild und Stichpunkte">
  <p:cSld name="5_Inhalt - Bild und Stichpunkte">
    <p:spTree>
      <p:nvGrpSpPr>
        <p:cNvPr id="1" name="Shape 35"/>
        <p:cNvGrpSpPr/>
        <p:nvPr/>
      </p:nvGrpSpPr>
      <p:grpSpPr>
        <a:xfrm>
          <a:off x="0" y="0"/>
          <a:ext cx="0" cy="0"/>
          <a:chOff x="0" y="0"/>
          <a:chExt cx="0" cy="0"/>
        </a:xfrm>
      </p:grpSpPr>
      <p:sp>
        <p:nvSpPr>
          <p:cNvPr id="36" name="Google Shape;36;p12"/>
          <p:cNvSpPr txBox="1">
            <a:spLocks noGrp="1"/>
          </p:cNvSpPr>
          <p:nvPr>
            <p:ph type="body" idx="1"/>
          </p:nvPr>
        </p:nvSpPr>
        <p:spPr>
          <a:xfrm>
            <a:off x="6519600" y="1364399"/>
            <a:ext cx="3981600" cy="4111200"/>
          </a:xfrm>
          <a:prstGeom prst="rect">
            <a:avLst/>
          </a:prstGeom>
          <a:noFill/>
          <a:ln>
            <a:noFill/>
          </a:ln>
        </p:spPr>
        <p:txBody>
          <a:bodyPr spcFirstLastPara="1" wrap="square" lIns="0" tIns="0" rIns="0" bIns="0" anchor="t" anchorCtr="0">
            <a:noAutofit/>
          </a:bodyPr>
          <a:lstStyle>
            <a:lvl1pPr marL="457200" marR="0" lvl="0" indent="-342900" algn="l" rtl="0">
              <a:lnSpc>
                <a:spcPct val="133333"/>
              </a:lnSpc>
              <a:spcBef>
                <a:spcPts val="10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1pPr>
            <a:lvl2pPr marL="914400" marR="0" lvl="1"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2pPr>
            <a:lvl3pPr marL="1371600" marR="0" lvl="2"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3pPr>
            <a:lvl4pPr marL="1828800" marR="0" lvl="3"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4pPr>
            <a:lvl5pPr marL="2286000" marR="0" lvl="4" indent="-342900" algn="l" rtl="0">
              <a:lnSpc>
                <a:spcPct val="133333"/>
              </a:lnSpc>
              <a:spcBef>
                <a:spcPts val="500"/>
              </a:spcBef>
              <a:spcAft>
                <a:spcPts val="0"/>
              </a:spcAft>
              <a:buClr>
                <a:srgbClr val="434343"/>
              </a:buClr>
              <a:buSzPts val="1800"/>
              <a:buFont typeface="Noto Sans Symbols"/>
              <a:buChar char="−"/>
              <a:defRPr sz="1800" b="0" i="0" u="none" strike="noStrike" cap="none">
                <a:solidFill>
                  <a:srgbClr val="434343"/>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12"/>
          <p:cNvSpPr>
            <a:spLocks noGrp="1"/>
          </p:cNvSpPr>
          <p:nvPr>
            <p:ph type="pic" idx="2"/>
          </p:nvPr>
        </p:nvSpPr>
        <p:spPr>
          <a:xfrm>
            <a:off x="550861" y="1381405"/>
            <a:ext cx="5545139" cy="4093589"/>
          </a:xfrm>
          <a:prstGeom prst="rect">
            <a:avLst/>
          </a:prstGeom>
          <a:solidFill>
            <a:srgbClr val="434343"/>
          </a:solidFill>
          <a:ln>
            <a:noFill/>
          </a:ln>
        </p:spPr>
      </p:sp>
      <p:sp>
        <p:nvSpPr>
          <p:cNvPr id="38" name="Google Shape;38;p12"/>
          <p:cNvSpPr txBox="1">
            <a:spLocks noGrp="1"/>
          </p:cNvSpPr>
          <p:nvPr>
            <p:ph type="body" idx="3"/>
          </p:nvPr>
        </p:nvSpPr>
        <p:spPr>
          <a:xfrm>
            <a:off x="555867" y="396545"/>
            <a:ext cx="8311908" cy="717437"/>
          </a:xfrm>
          <a:prstGeom prst="rect">
            <a:avLst/>
          </a:prstGeom>
          <a:noFill/>
          <a:ln>
            <a:noFill/>
          </a:ln>
        </p:spPr>
        <p:txBody>
          <a:bodyPr spcFirstLastPara="1" wrap="square" lIns="0" tIns="0" rIns="0" bIns="0" anchor="b" anchorCtr="0">
            <a:noAutofit/>
          </a:bodyPr>
          <a:lstStyle>
            <a:lvl1pPr marL="457200" marR="0" lvl="0" indent="-228600" algn="l" rtl="0">
              <a:lnSpc>
                <a:spcPct val="116666"/>
              </a:lnSpc>
              <a:spcBef>
                <a:spcPts val="0"/>
              </a:spcBef>
              <a:spcAft>
                <a:spcPts val="0"/>
              </a:spcAft>
              <a:buClr>
                <a:srgbClr val="C40D1E"/>
              </a:buClr>
              <a:buSzPts val="2400"/>
              <a:buFont typeface="Arial"/>
              <a:buNone/>
              <a:defRPr sz="2400" b="0" i="0" u="none" strike="noStrike" cap="none">
                <a:solidFill>
                  <a:srgbClr val="C40D1E"/>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p:nvPr/>
        </p:nvSpPr>
        <p:spPr>
          <a:xfrm>
            <a:off x="0" y="1668462"/>
            <a:ext cx="12192000" cy="5189537"/>
          </a:xfrm>
          <a:custGeom>
            <a:avLst/>
            <a:gdLst/>
            <a:ahLst/>
            <a:cxnLst/>
            <a:rect l="l" t="t" r="r" b="b"/>
            <a:pathLst>
              <a:path w="12192000" h="5189537" extrusionOk="0">
                <a:moveTo>
                  <a:pt x="0" y="428625"/>
                </a:moveTo>
                <a:lnTo>
                  <a:pt x="12192000" y="0"/>
                </a:lnTo>
                <a:lnTo>
                  <a:pt x="12192000" y="5189537"/>
                </a:lnTo>
                <a:lnTo>
                  <a:pt x="0" y="5189537"/>
                </a:lnTo>
                <a:lnTo>
                  <a:pt x="0" y="428625"/>
                </a:lnTo>
                <a:close/>
              </a:path>
            </a:pathLst>
          </a:custGeom>
          <a:solidFill>
            <a:srgbClr val="C40D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1" name="Google Shape;11;p6"/>
          <p:cNvPicPr preferRelativeResize="0"/>
          <p:nvPr/>
        </p:nvPicPr>
        <p:blipFill rotWithShape="1">
          <a:blip r:embed="rId4">
            <a:alphaModFix/>
          </a:blip>
          <a:srcRect/>
          <a:stretch/>
        </p:blipFill>
        <p:spPr>
          <a:xfrm>
            <a:off x="9388168" y="378741"/>
            <a:ext cx="2250000" cy="774000"/>
          </a:xfrm>
          <a:prstGeom prst="rect">
            <a:avLst/>
          </a:prstGeom>
          <a:noFill/>
          <a:ln>
            <a:noFill/>
          </a:ln>
        </p:spPr>
      </p:pic>
      <p:sp>
        <p:nvSpPr>
          <p:cNvPr id="12" name="Google Shape;12;p6"/>
          <p:cNvSpPr txBox="1"/>
          <p:nvPr/>
        </p:nvSpPr>
        <p:spPr>
          <a:xfrm>
            <a:off x="12292755" y="5534561"/>
            <a:ext cx="3102416"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1" i="0" u="none" strike="noStrike" cap="none">
                <a:solidFill>
                  <a:schemeClr val="dk1"/>
                </a:solidFill>
                <a:latin typeface="Arial"/>
                <a:ea typeface="Arial"/>
                <a:cs typeface="Arial"/>
                <a:sym typeface="Arial"/>
              </a:rPr>
              <a:t>Titelseiten – Platzhalter für Sublogo ändern: </a:t>
            </a:r>
            <a:r>
              <a:rPr lang="de-DE" sz="1000" b="0" i="0" u="none" strike="noStrike" cap="none">
                <a:solidFill>
                  <a:schemeClr val="dk1"/>
                </a:solidFill>
                <a:latin typeface="Arial"/>
                <a:ea typeface="Arial"/>
                <a:cs typeface="Arial"/>
                <a:sym typeface="Arial"/>
              </a:rPr>
              <a:t>Direkt auf dieser Folie &gt; Bild anklicken &gt; Rechtsklick &gt; Bild einfügen</a:t>
            </a:r>
            <a:br>
              <a:rPr lang="de-DE" sz="1000" b="0" i="0" u="none" strike="noStrike" cap="none">
                <a:solidFill>
                  <a:schemeClr val="dk1"/>
                </a:solidFill>
                <a:latin typeface="Arial"/>
                <a:ea typeface="Arial"/>
                <a:cs typeface="Arial"/>
                <a:sym typeface="Arial"/>
              </a:rPr>
            </a:br>
            <a:br>
              <a:rPr lang="de-DE" sz="1000" b="0" i="0" u="none" strike="noStrike" cap="none">
                <a:solidFill>
                  <a:schemeClr val="dk1"/>
                </a:solidFill>
                <a:latin typeface="Arial"/>
                <a:ea typeface="Arial"/>
                <a:cs typeface="Arial"/>
                <a:sym typeface="Arial"/>
              </a:rPr>
            </a:br>
            <a:r>
              <a:rPr lang="de-DE" sz="1000" b="1" i="0" u="none" strike="noStrike" cap="none">
                <a:solidFill>
                  <a:schemeClr val="dk1"/>
                </a:solidFill>
                <a:latin typeface="Arial"/>
                <a:ea typeface="Arial"/>
                <a:cs typeface="Arial"/>
                <a:sym typeface="Arial"/>
              </a:rPr>
              <a:t>Bild an Rahmen anpassen</a:t>
            </a:r>
            <a:r>
              <a:rPr lang="de-DE" sz="1000" b="0" i="0" u="none" strike="noStrike" cap="none">
                <a:solidFill>
                  <a:schemeClr val="dk1"/>
                </a:solidFill>
                <a:latin typeface="Arial"/>
                <a:ea typeface="Arial"/>
                <a:cs typeface="Arial"/>
                <a:sym typeface="Arial"/>
              </a:rPr>
              <a:t>: </a:t>
            </a:r>
            <a:br>
              <a:rPr lang="de-DE" sz="1000" b="0" i="0" u="none" strike="noStrike" cap="none">
                <a:solidFill>
                  <a:schemeClr val="dk1"/>
                </a:solidFill>
                <a:latin typeface="Arial"/>
                <a:ea typeface="Arial"/>
                <a:cs typeface="Arial"/>
                <a:sym typeface="Arial"/>
              </a:rPr>
            </a:br>
            <a:r>
              <a:rPr lang="de-DE" sz="1000" b="0" i="0" u="none" strike="noStrike" cap="none">
                <a:solidFill>
                  <a:schemeClr val="dk1"/>
                </a:solidFill>
                <a:latin typeface="Arial"/>
                <a:ea typeface="Arial"/>
                <a:cs typeface="Arial"/>
                <a:sym typeface="Arial"/>
              </a:rPr>
              <a:t>Bild anklicken &gt; Bildformat &gt; Zuschneiden &gt; </a:t>
            </a:r>
            <a:br>
              <a:rPr lang="de-DE" sz="1000" b="0" i="0" u="none" strike="noStrike" cap="none">
                <a:solidFill>
                  <a:schemeClr val="dk1"/>
                </a:solidFill>
                <a:latin typeface="Arial"/>
                <a:ea typeface="Arial"/>
                <a:cs typeface="Arial"/>
                <a:sym typeface="Arial"/>
              </a:rPr>
            </a:br>
            <a:r>
              <a:rPr lang="de-DE" sz="1000" b="0" i="0" u="none" strike="noStrike" cap="none">
                <a:solidFill>
                  <a:schemeClr val="dk1"/>
                </a:solidFill>
                <a:latin typeface="Arial"/>
                <a:ea typeface="Arial"/>
                <a:cs typeface="Arial"/>
                <a:sym typeface="Arial"/>
              </a:rPr>
              <a:t>im Dropdown „Einpassen“ wählen &gt; </a:t>
            </a:r>
            <a:br>
              <a:rPr lang="de-DE" sz="1000" b="0" i="0" u="none" strike="noStrike" cap="none">
                <a:solidFill>
                  <a:schemeClr val="dk1"/>
                </a:solidFill>
                <a:latin typeface="Arial"/>
                <a:ea typeface="Arial"/>
                <a:cs typeface="Arial"/>
                <a:sym typeface="Arial"/>
              </a:rPr>
            </a:br>
            <a:r>
              <a:rPr lang="de-DE" sz="1000" b="0" i="0" u="none" strike="noStrike" cap="none">
                <a:solidFill>
                  <a:schemeClr val="dk1"/>
                </a:solidFill>
                <a:latin typeface="Arial"/>
                <a:ea typeface="Arial"/>
                <a:cs typeface="Arial"/>
                <a:sym typeface="Arial"/>
              </a:rPr>
              <a:t>ggf. Bild nochmals neu positionieren </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7">
          <p15:clr>
            <a:srgbClr val="F26B43"/>
          </p15:clr>
        </p15:guide>
        <p15:guide id="2" pos="7333">
          <p15:clr>
            <a:srgbClr val="F26B43"/>
          </p15:clr>
        </p15:guide>
        <p15:guide id="3" orient="horz" pos="346">
          <p15:clr>
            <a:srgbClr val="F26B43"/>
          </p15:clr>
        </p15:guide>
        <p15:guide id="4" pos="1232">
          <p15:clr>
            <a:srgbClr val="F26B43"/>
          </p15:clr>
        </p15:guide>
        <p15:guide id="5" orient="horz" pos="3974">
          <p15:clr>
            <a:srgbClr val="F26B43"/>
          </p15:clr>
        </p15:guide>
        <p15:guide id="6" orient="horz" pos="663">
          <p15:clr>
            <a:srgbClr val="F26B43"/>
          </p15:clr>
        </p15:guide>
        <p15:guide id="7" orient="horz" pos="1003">
          <p15:clr>
            <a:srgbClr val="F26B43"/>
          </p15:clr>
        </p15:guide>
        <p15:guide id="8" orient="horz" pos="1321">
          <p15:clr>
            <a:srgbClr val="F26B43"/>
          </p15:clr>
        </p15:guide>
        <p15:guide id="9" orient="horz" pos="1661">
          <p15:clr>
            <a:srgbClr val="F26B43"/>
          </p15:clr>
        </p15:guide>
        <p15:guide id="10" orient="horz" pos="2001">
          <p15:clr>
            <a:srgbClr val="F26B43"/>
          </p15:clr>
        </p15:guide>
        <p15:guide id="11" orient="horz" pos="3339">
          <p15:clr>
            <a:srgbClr val="F26B43"/>
          </p15:clr>
        </p15:guide>
        <p15:guide id="12" orient="horz" pos="2319">
          <p15:clr>
            <a:srgbClr val="F26B43"/>
          </p15:clr>
        </p15:guide>
        <p15:guide id="13" orient="horz" pos="2999">
          <p15:clr>
            <a:srgbClr val="F26B43"/>
          </p15:clr>
        </p15:guide>
        <p15:guide id="14" orient="horz" pos="3657">
          <p15:clr>
            <a:srgbClr val="F26B43"/>
          </p15:clr>
        </p15:guide>
        <p15:guide id="15" orient="horz" pos="2659">
          <p15:clr>
            <a:srgbClr val="F26B43"/>
          </p15:clr>
        </p15:guide>
        <p15:guide id="16" pos="2094">
          <p15:clr>
            <a:srgbClr val="F26B43"/>
          </p15:clr>
        </p15:guide>
        <p15:guide id="17" pos="2978">
          <p15:clr>
            <a:srgbClr val="F26B43"/>
          </p15:clr>
        </p15:guide>
        <p15:guide id="18" pos="3840">
          <p15:clr>
            <a:srgbClr val="F26B43"/>
          </p15:clr>
        </p15:guide>
        <p15:guide id="19" pos="4725">
          <p15:clr>
            <a:srgbClr val="F26B43"/>
          </p15:clr>
        </p15:guide>
        <p15:guide id="20" pos="5586">
          <p15:clr>
            <a:srgbClr val="F26B43"/>
          </p15:clr>
        </p15:guide>
        <p15:guide id="21" pos="647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9"/>
          <p:cNvSpPr/>
          <p:nvPr/>
        </p:nvSpPr>
        <p:spPr>
          <a:xfrm>
            <a:off x="0" y="5748124"/>
            <a:ext cx="12195175" cy="1109875"/>
          </a:xfrm>
          <a:custGeom>
            <a:avLst/>
            <a:gdLst/>
            <a:ahLst/>
            <a:cxnLst/>
            <a:rect l="l" t="t" r="r" b="b"/>
            <a:pathLst>
              <a:path w="12195175" h="1109875" extrusionOk="0">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 name="Google Shape;21;p9"/>
          <p:cNvPicPr preferRelativeResize="0"/>
          <p:nvPr/>
        </p:nvPicPr>
        <p:blipFill rotWithShape="1">
          <a:blip r:embed="rId5">
            <a:alphaModFix/>
          </a:blip>
          <a:srcRect/>
          <a:stretch/>
        </p:blipFill>
        <p:spPr>
          <a:xfrm>
            <a:off x="10614598" y="378000"/>
            <a:ext cx="1004400" cy="766068"/>
          </a:xfrm>
          <a:prstGeom prst="rect">
            <a:avLst/>
          </a:prstGeom>
          <a:noFill/>
          <a:ln>
            <a:noFill/>
          </a:ln>
        </p:spPr>
      </p:pic>
      <p:sp>
        <p:nvSpPr>
          <p:cNvPr id="22" name="Google Shape;22;p9"/>
          <p:cNvSpPr txBox="1"/>
          <p:nvPr/>
        </p:nvSpPr>
        <p:spPr>
          <a:xfrm>
            <a:off x="12292755" y="5612990"/>
            <a:ext cx="3102416"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1">
                <a:solidFill>
                  <a:schemeClr val="dk1"/>
                </a:solidFill>
                <a:latin typeface="Arial"/>
                <a:ea typeface="Arial"/>
                <a:cs typeface="Arial"/>
                <a:sym typeface="Arial"/>
              </a:rPr>
              <a:t>Folgeseiten – Platzhalter für Sublogo ändern: </a:t>
            </a:r>
            <a:r>
              <a:rPr lang="de-DE" sz="1000">
                <a:solidFill>
                  <a:schemeClr val="dk1"/>
                </a:solidFill>
                <a:latin typeface="Arial"/>
                <a:ea typeface="Arial"/>
                <a:cs typeface="Arial"/>
                <a:sym typeface="Arial"/>
              </a:rPr>
              <a:t>Folienmaster &gt; Nr. 2 bearbeiten &gt; Bild anklicken &gt; Rechtsklick &gt; Bild einfügen</a:t>
            </a:r>
            <a:br>
              <a:rPr lang="de-DE" sz="1000">
                <a:solidFill>
                  <a:schemeClr val="dk1"/>
                </a:solidFill>
                <a:latin typeface="Arial"/>
                <a:ea typeface="Arial"/>
                <a:cs typeface="Arial"/>
                <a:sym typeface="Arial"/>
              </a:rPr>
            </a:br>
            <a:br>
              <a:rPr lang="de-DE" sz="1000">
                <a:solidFill>
                  <a:schemeClr val="dk1"/>
                </a:solidFill>
                <a:latin typeface="Arial"/>
                <a:ea typeface="Arial"/>
                <a:cs typeface="Arial"/>
                <a:sym typeface="Arial"/>
              </a:rPr>
            </a:br>
            <a:r>
              <a:rPr lang="de-DE" sz="1000" b="1">
                <a:solidFill>
                  <a:schemeClr val="dk1"/>
                </a:solidFill>
                <a:latin typeface="Arial"/>
                <a:ea typeface="Arial"/>
                <a:cs typeface="Arial"/>
                <a:sym typeface="Arial"/>
              </a:rPr>
              <a:t>Bild an Rahmen anpassen</a:t>
            </a:r>
            <a:r>
              <a:rPr lang="de-DE" sz="1000">
                <a:solidFill>
                  <a:schemeClr val="dk1"/>
                </a:solidFill>
                <a:latin typeface="Arial"/>
                <a:ea typeface="Arial"/>
                <a:cs typeface="Arial"/>
                <a:sym typeface="Arial"/>
              </a:rPr>
              <a:t>: </a:t>
            </a:r>
            <a:br>
              <a:rPr lang="de-DE" sz="1000">
                <a:solidFill>
                  <a:schemeClr val="dk1"/>
                </a:solidFill>
                <a:latin typeface="Arial"/>
                <a:ea typeface="Arial"/>
                <a:cs typeface="Arial"/>
                <a:sym typeface="Arial"/>
              </a:rPr>
            </a:br>
            <a:r>
              <a:rPr lang="de-DE" sz="1000">
                <a:solidFill>
                  <a:schemeClr val="dk1"/>
                </a:solidFill>
                <a:latin typeface="Arial"/>
                <a:ea typeface="Arial"/>
                <a:cs typeface="Arial"/>
                <a:sym typeface="Arial"/>
              </a:rPr>
              <a:t>Bild anklicken &gt; Bildformat &gt; Zuschneiden &gt; </a:t>
            </a:r>
            <a:br>
              <a:rPr lang="de-DE" sz="1000">
                <a:solidFill>
                  <a:schemeClr val="dk1"/>
                </a:solidFill>
                <a:latin typeface="Arial"/>
                <a:ea typeface="Arial"/>
                <a:cs typeface="Arial"/>
                <a:sym typeface="Arial"/>
              </a:rPr>
            </a:br>
            <a:r>
              <a:rPr lang="de-DE" sz="1000">
                <a:solidFill>
                  <a:schemeClr val="dk1"/>
                </a:solidFill>
                <a:latin typeface="Arial"/>
                <a:ea typeface="Arial"/>
                <a:cs typeface="Arial"/>
                <a:sym typeface="Arial"/>
              </a:rPr>
              <a:t>im Dropdown „Einpassen“ wählen &gt; </a:t>
            </a:r>
            <a:br>
              <a:rPr lang="de-DE" sz="1000">
                <a:solidFill>
                  <a:schemeClr val="dk1"/>
                </a:solidFill>
                <a:latin typeface="Arial"/>
                <a:ea typeface="Arial"/>
                <a:cs typeface="Arial"/>
                <a:sym typeface="Arial"/>
              </a:rPr>
            </a:br>
            <a:r>
              <a:rPr lang="de-DE" sz="1000">
                <a:solidFill>
                  <a:schemeClr val="dk1"/>
                </a:solidFill>
                <a:latin typeface="Arial"/>
                <a:ea typeface="Arial"/>
                <a:cs typeface="Arial"/>
                <a:sym typeface="Arial"/>
              </a:rPr>
              <a:t>ggf. Bild nochmals neu positionieren </a:t>
            </a:r>
            <a:endParaRPr/>
          </a:p>
        </p:txBody>
      </p:sp>
      <p:sp>
        <p:nvSpPr>
          <p:cNvPr id="23" name="Google Shape;23;p9"/>
          <p:cNvSpPr txBox="1"/>
          <p:nvPr/>
        </p:nvSpPr>
        <p:spPr>
          <a:xfrm>
            <a:off x="-2243920" y="6474756"/>
            <a:ext cx="222334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1">
                <a:solidFill>
                  <a:schemeClr val="dk1"/>
                </a:solidFill>
                <a:latin typeface="Arial"/>
                <a:ea typeface="Arial"/>
                <a:cs typeface="Arial"/>
                <a:sym typeface="Arial"/>
              </a:rPr>
              <a:t>Informationen in Fußzeile ändern:</a:t>
            </a:r>
            <a:br>
              <a:rPr lang="de-DE" sz="1000">
                <a:solidFill>
                  <a:schemeClr val="dk1"/>
                </a:solidFill>
                <a:latin typeface="Arial"/>
                <a:ea typeface="Arial"/>
                <a:cs typeface="Arial"/>
                <a:sym typeface="Arial"/>
              </a:rPr>
            </a:br>
            <a:r>
              <a:rPr lang="de-DE" sz="1000">
                <a:solidFill>
                  <a:schemeClr val="dk1"/>
                </a:solidFill>
                <a:latin typeface="Arial"/>
                <a:ea typeface="Arial"/>
                <a:cs typeface="Arial"/>
                <a:sym typeface="Arial"/>
              </a:rPr>
              <a:t>Folienmaster &gt; Nr. 2 bearbeiten</a:t>
            </a:r>
            <a:endParaRPr/>
          </a:p>
        </p:txBody>
      </p:sp>
      <p:sp>
        <p:nvSpPr>
          <p:cNvPr id="25" name="Google Shape;25;p9"/>
          <p:cNvSpPr txBox="1"/>
          <p:nvPr/>
        </p:nvSpPr>
        <p:spPr>
          <a:xfrm>
            <a:off x="550800" y="6399924"/>
            <a:ext cx="1074739" cy="19049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lt1"/>
              </a:buClr>
              <a:buSzPts val="1200"/>
              <a:buFont typeface="Arial"/>
              <a:buNone/>
            </a:pPr>
            <a:r>
              <a:rPr lang="de-DE" sz="1200">
                <a:solidFill>
                  <a:schemeClr val="lt1"/>
                </a:solidFill>
                <a:latin typeface="Arial"/>
                <a:ea typeface="Arial"/>
                <a:cs typeface="Arial"/>
                <a:sym typeface="Arial"/>
              </a:rPr>
              <a:t>Seite </a:t>
            </a:r>
            <a:fld id="{00000000-1234-1234-1234-123412341234}" type="slidenum">
              <a:rPr lang="de-DE"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6" name="Google Shape;26;p9"/>
          <p:cNvSpPr txBox="1"/>
          <p:nvPr/>
        </p:nvSpPr>
        <p:spPr>
          <a:xfrm>
            <a:off x="1625600" y="6399924"/>
            <a:ext cx="7615318" cy="18466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dirty="0" err="1">
                <a:solidFill>
                  <a:schemeClr val="lt1"/>
                </a:solidFill>
                <a:latin typeface="Arial"/>
                <a:ea typeface="Arial"/>
                <a:cs typeface="Arial"/>
                <a:sym typeface="Arial"/>
              </a:rPr>
              <a:t>Xiaorui</a:t>
            </a:r>
            <a:r>
              <a:rPr lang="en-US" sz="1200" dirty="0">
                <a:solidFill>
                  <a:schemeClr val="lt1"/>
                </a:solidFill>
                <a:latin typeface="Arial"/>
                <a:ea typeface="Arial"/>
                <a:cs typeface="Arial"/>
                <a:sym typeface="Arial"/>
              </a:rPr>
              <a:t> Wang</a:t>
            </a:r>
            <a:r>
              <a:rPr lang="de-DE" sz="1200" dirty="0">
                <a:solidFill>
                  <a:schemeClr val="lt1"/>
                </a:solidFill>
                <a:latin typeface="Arial"/>
                <a:ea typeface="Arial"/>
                <a:cs typeface="Arial"/>
                <a:sym typeface="Arial"/>
              </a:rPr>
              <a:t>| Xi Yuan | Yiming Wang| 25.06.2026</a:t>
            </a:r>
            <a:endParaRPr sz="1200" dirty="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pic>
        <p:nvPicPr>
          <p:cNvPr id="43" name="Google Shape;43;p1" descr="Ein Bild, das draußen, Baum, Straße, Bürgersteig enthält.&#10;&#10;Automatisch generierte Beschreibung"/>
          <p:cNvPicPr preferRelativeResize="0">
            <a:picLocks noGrp="1"/>
          </p:cNvPicPr>
          <p:nvPr>
            <p:ph type="pic" idx="2"/>
          </p:nvPr>
        </p:nvPicPr>
        <p:blipFill rotWithShape="1">
          <a:blip r:embed="rId3">
            <a:alphaModFix/>
          </a:blip>
          <a:srcRect t="38334" b="6404"/>
          <a:stretch/>
        </p:blipFill>
        <p:spPr>
          <a:xfrm>
            <a:off x="-6479" y="1260572"/>
            <a:ext cx="8885359" cy="3273604"/>
          </a:xfrm>
          <a:prstGeom prst="rect">
            <a:avLst/>
          </a:prstGeom>
          <a:solidFill>
            <a:srgbClr val="434343"/>
          </a:solidFill>
          <a:ln>
            <a:noFill/>
          </a:ln>
        </p:spPr>
      </p:pic>
      <p:sp>
        <p:nvSpPr>
          <p:cNvPr id="44" name="Google Shape;44;p1"/>
          <p:cNvSpPr txBox="1"/>
          <p:nvPr/>
        </p:nvSpPr>
        <p:spPr>
          <a:xfrm>
            <a:off x="550801" y="4973943"/>
            <a:ext cx="8328000" cy="1015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de-DE" sz="3000">
                <a:solidFill>
                  <a:schemeClr val="lt1"/>
                </a:solidFill>
              </a:rPr>
              <a:t>Designing a Sustainable Demand-Responsive Transport Service for Cottbus </a:t>
            </a:r>
            <a:endParaRPr sz="3000">
              <a:solidFill>
                <a:schemeClr val="lt1"/>
              </a:solidFill>
              <a:latin typeface="Arial"/>
              <a:ea typeface="Arial"/>
              <a:cs typeface="Arial"/>
              <a:sym typeface="Arial"/>
            </a:endParaRPr>
          </a:p>
        </p:txBody>
      </p:sp>
      <p:sp>
        <p:nvSpPr>
          <p:cNvPr id="45" name="Google Shape;45;p1"/>
          <p:cNvSpPr txBox="1"/>
          <p:nvPr/>
        </p:nvSpPr>
        <p:spPr>
          <a:xfrm>
            <a:off x="550801" y="6085778"/>
            <a:ext cx="8328000" cy="368434"/>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Clr>
                <a:schemeClr val="lt1"/>
              </a:buClr>
              <a:buSzPts val="1800"/>
              <a:buFont typeface="Arial"/>
              <a:buNone/>
            </a:pPr>
            <a:r>
              <a:rPr lang="de-DE" sz="1800" dirty="0">
                <a:solidFill>
                  <a:schemeClr val="lt1"/>
                </a:solidFill>
              </a:rPr>
              <a:t>Yiming Wang</a:t>
            </a:r>
            <a:r>
              <a:rPr lang="de-DE" sz="1800" dirty="0">
                <a:solidFill>
                  <a:schemeClr val="lt1"/>
                </a:solidFill>
                <a:latin typeface="Arial"/>
                <a:ea typeface="Arial"/>
                <a:cs typeface="Arial"/>
                <a:sym typeface="Arial"/>
              </a:rPr>
              <a:t> | </a:t>
            </a:r>
            <a:r>
              <a:rPr lang="de-DE" sz="1800" dirty="0">
                <a:solidFill>
                  <a:schemeClr val="lt1"/>
                </a:solidFill>
              </a:rPr>
              <a:t>Xi Yuan</a:t>
            </a:r>
            <a:r>
              <a:rPr lang="de-DE" sz="1800" dirty="0">
                <a:solidFill>
                  <a:schemeClr val="lt1"/>
                </a:solidFill>
                <a:latin typeface="Arial"/>
                <a:ea typeface="Arial"/>
                <a:cs typeface="Arial"/>
                <a:sym typeface="Arial"/>
              </a:rPr>
              <a:t> | </a:t>
            </a:r>
            <a:r>
              <a:rPr lang="de-DE" sz="1800" dirty="0">
                <a:solidFill>
                  <a:schemeClr val="lt1"/>
                </a:solidFill>
              </a:rPr>
              <a:t>XIaorui Wang</a:t>
            </a:r>
            <a:r>
              <a:rPr lang="de-DE" sz="1800" dirty="0">
                <a:solidFill>
                  <a:schemeClr val="lt1"/>
                </a:solidFill>
                <a:latin typeface="Arial"/>
                <a:ea typeface="Arial"/>
                <a:cs typeface="Arial"/>
                <a:sym typeface="Arial"/>
              </a:rPr>
              <a:t> | </a:t>
            </a:r>
            <a:r>
              <a:rPr lang="de-DE" sz="1800" dirty="0">
                <a:solidFill>
                  <a:schemeClr val="lt1"/>
                </a:solidFill>
              </a:rPr>
              <a:t>25.06.</a:t>
            </a:r>
            <a:r>
              <a:rPr lang="de-DE" sz="1800" dirty="0">
                <a:solidFill>
                  <a:schemeClr val="lt1"/>
                </a:solidFill>
                <a:latin typeface="Arial"/>
                <a:ea typeface="Arial"/>
                <a:cs typeface="Arial"/>
                <a:sym typeface="Arial"/>
              </a:rPr>
              <a:t>202</a:t>
            </a:r>
            <a:r>
              <a:rPr lang="de-DE" sz="1800" dirty="0">
                <a:solidFill>
                  <a:schemeClr val="lt1"/>
                </a:solidFill>
              </a:rPr>
              <a:t>6</a:t>
            </a:r>
            <a:endParaRPr sz="1800" dirty="0">
              <a:solidFill>
                <a:schemeClr val="lt1"/>
              </a:solidFill>
            </a:endParaRPr>
          </a:p>
        </p:txBody>
      </p:sp>
      <p:sp>
        <p:nvSpPr>
          <p:cNvPr id="46" name="Google Shape;46;p1"/>
          <p:cNvSpPr txBox="1"/>
          <p:nvPr/>
        </p:nvSpPr>
        <p:spPr>
          <a:xfrm rot="-5400000">
            <a:off x="8417813" y="1519369"/>
            <a:ext cx="69111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600">
                <a:solidFill>
                  <a:schemeClr val="lt1"/>
                </a:solidFill>
                <a:latin typeface="Arial"/>
                <a:ea typeface="Arial"/>
                <a:cs typeface="Arial"/>
                <a:sym typeface="Arial"/>
              </a:rPr>
              <a:t>© Philipp Arnoldt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3"/>
          <p:cNvSpPr txBox="1">
            <a:spLocks noGrp="1"/>
          </p:cNvSpPr>
          <p:nvPr>
            <p:ph type="body" idx="3"/>
          </p:nvPr>
        </p:nvSpPr>
        <p:spPr>
          <a:xfrm>
            <a:off x="555867" y="396545"/>
            <a:ext cx="8311908" cy="717437"/>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Criteria &amp; Parameters</a:t>
            </a:r>
            <a:endParaRPr/>
          </a:p>
        </p:txBody>
      </p:sp>
      <p:pic>
        <p:nvPicPr>
          <p:cNvPr id="52" name="Google Shape;52;p3"/>
          <p:cNvPicPr preferRelativeResize="0"/>
          <p:nvPr/>
        </p:nvPicPr>
        <p:blipFill>
          <a:blip r:embed="rId3">
            <a:alphaModFix/>
          </a:blip>
          <a:stretch>
            <a:fillRect/>
          </a:stretch>
        </p:blipFill>
        <p:spPr>
          <a:xfrm>
            <a:off x="555875" y="2190757"/>
            <a:ext cx="6915150" cy="2476500"/>
          </a:xfrm>
          <a:prstGeom prst="rect">
            <a:avLst/>
          </a:prstGeom>
          <a:noFill/>
          <a:ln>
            <a:noFill/>
          </a:ln>
        </p:spPr>
      </p:pic>
      <p:sp>
        <p:nvSpPr>
          <p:cNvPr id="53" name="Google Shape;53;p3"/>
          <p:cNvSpPr/>
          <p:nvPr/>
        </p:nvSpPr>
        <p:spPr>
          <a:xfrm>
            <a:off x="7871375" y="3274950"/>
            <a:ext cx="1179900" cy="308100"/>
          </a:xfrm>
          <a:prstGeom prst="leftRightArrow">
            <a:avLst>
              <a:gd name="adj1" fmla="val 50000"/>
              <a:gd name="adj2" fmla="val 50000"/>
            </a:avLst>
          </a:prstGeom>
          <a:solidFill>
            <a:srgbClr val="626B7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latin typeface="Roboto"/>
              <a:ea typeface="Roboto"/>
              <a:cs typeface="Roboto"/>
              <a:sym typeface="Roboto"/>
            </a:endParaRPr>
          </a:p>
        </p:txBody>
      </p:sp>
      <p:pic>
        <p:nvPicPr>
          <p:cNvPr id="54" name="Google Shape;54;p3"/>
          <p:cNvPicPr preferRelativeResize="0"/>
          <p:nvPr/>
        </p:nvPicPr>
        <p:blipFill>
          <a:blip r:embed="rId4">
            <a:alphaModFix/>
          </a:blip>
          <a:stretch>
            <a:fillRect/>
          </a:stretch>
        </p:blipFill>
        <p:spPr>
          <a:xfrm>
            <a:off x="9451625" y="2719382"/>
            <a:ext cx="1838325" cy="1419225"/>
          </a:xfrm>
          <a:prstGeom prst="rect">
            <a:avLst/>
          </a:prstGeom>
          <a:noFill/>
          <a:ln>
            <a:noFill/>
          </a:ln>
        </p:spPr>
      </p:pic>
      <p:sp>
        <p:nvSpPr>
          <p:cNvPr id="3" name="文本框 2">
            <a:extLst>
              <a:ext uri="{FF2B5EF4-FFF2-40B4-BE49-F238E27FC236}">
                <a16:creationId xmlns:a16="http://schemas.microsoft.com/office/drawing/2014/main" id="{0E769BD8-3594-72E7-3FAF-757DEE1AD95B}"/>
              </a:ext>
            </a:extLst>
          </p:cNvPr>
          <p:cNvSpPr txBox="1"/>
          <p:nvPr/>
        </p:nvSpPr>
        <p:spPr>
          <a:xfrm>
            <a:off x="555867" y="5460639"/>
            <a:ext cx="8816454" cy="566758"/>
          </a:xfrm>
          <a:prstGeom prst="rect">
            <a:avLst/>
          </a:prstGeom>
          <a:noFill/>
        </p:spPr>
        <p:txBody>
          <a:bodyPr wrap="square">
            <a:spAutoFit/>
          </a:bodyPr>
          <a:lstStyle/>
          <a:p>
            <a:pPr marL="0" lvl="0" indent="0" algn="l" rtl="0">
              <a:lnSpc>
                <a:spcPct val="115000"/>
              </a:lnSpc>
              <a:spcAft>
                <a:spcPts val="0"/>
              </a:spcAft>
              <a:buNone/>
            </a:pPr>
            <a:r>
              <a:rPr lang="en-US" altLang="zh-CN" sz="1400" dirty="0"/>
              <a:t>[1] Liyanage, S., Dia, H., &amp; Duncan, G. (2025). AI-powered evaluation of on-demand public transport: A hybrid simulation approach. Smart Cities, 9(1), Article 4.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g3ee237ec3c6_0_0"/>
          <p:cNvSpPr txBox="1">
            <a:spLocks noGrp="1"/>
          </p:cNvSpPr>
          <p:nvPr>
            <p:ph type="body" idx="3"/>
          </p:nvPr>
        </p:nvSpPr>
        <p:spPr>
          <a:xfrm>
            <a:off x="555867" y="396545"/>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Test Set &amp; Outcomes</a:t>
            </a:r>
            <a:endParaRPr/>
          </a:p>
        </p:txBody>
      </p:sp>
      <p:pic>
        <p:nvPicPr>
          <p:cNvPr id="60" name="Google Shape;60;g3ee237ec3c6_0_0"/>
          <p:cNvPicPr preferRelativeResize="0"/>
          <p:nvPr/>
        </p:nvPicPr>
        <p:blipFill>
          <a:blip r:embed="rId3">
            <a:alphaModFix/>
          </a:blip>
          <a:stretch>
            <a:fillRect/>
          </a:stretch>
        </p:blipFill>
        <p:spPr>
          <a:xfrm>
            <a:off x="152400" y="2296370"/>
            <a:ext cx="11887198" cy="2425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g3ee237ec3c6_0_6"/>
          <p:cNvPicPr preferRelativeResize="0"/>
          <p:nvPr/>
        </p:nvPicPr>
        <p:blipFill rotWithShape="1">
          <a:blip r:embed="rId3">
            <a:alphaModFix/>
          </a:blip>
          <a:srcRect r="9478" b="9478"/>
          <a:stretch/>
        </p:blipFill>
        <p:spPr>
          <a:xfrm>
            <a:off x="477650" y="2090970"/>
            <a:ext cx="4002600" cy="2209503"/>
          </a:xfrm>
          <a:prstGeom prst="rect">
            <a:avLst/>
          </a:prstGeom>
          <a:noFill/>
          <a:ln>
            <a:noFill/>
          </a:ln>
        </p:spPr>
      </p:pic>
      <p:pic>
        <p:nvPicPr>
          <p:cNvPr id="66" name="Google Shape;66;g3ee237ec3c6_0_6"/>
          <p:cNvPicPr preferRelativeResize="0"/>
          <p:nvPr/>
        </p:nvPicPr>
        <p:blipFill>
          <a:blip r:embed="rId4">
            <a:alphaModFix/>
          </a:blip>
          <a:stretch>
            <a:fillRect/>
          </a:stretch>
        </p:blipFill>
        <p:spPr>
          <a:xfrm>
            <a:off x="5892725" y="2182850"/>
            <a:ext cx="5397401" cy="1868750"/>
          </a:xfrm>
          <a:prstGeom prst="rect">
            <a:avLst/>
          </a:prstGeom>
          <a:noFill/>
          <a:ln>
            <a:noFill/>
          </a:ln>
        </p:spPr>
      </p:pic>
      <p:sp>
        <p:nvSpPr>
          <p:cNvPr id="67" name="Google Shape;67;g3ee237ec3c6_0_6"/>
          <p:cNvSpPr txBox="1">
            <a:spLocks noGrp="1"/>
          </p:cNvSpPr>
          <p:nvPr>
            <p:ph type="body" idx="3"/>
          </p:nvPr>
        </p:nvSpPr>
        <p:spPr>
          <a:xfrm>
            <a:off x="555867" y="396545"/>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AHP Ranking and Final Selection </a:t>
            </a:r>
            <a:endParaRPr/>
          </a:p>
        </p:txBody>
      </p:sp>
      <p:pic>
        <p:nvPicPr>
          <p:cNvPr id="68" name="Google Shape;68;g3ee237ec3c6_0_6"/>
          <p:cNvPicPr preferRelativeResize="0"/>
          <p:nvPr/>
        </p:nvPicPr>
        <p:blipFill>
          <a:blip r:embed="rId5">
            <a:alphaModFix/>
          </a:blip>
          <a:stretch>
            <a:fillRect/>
          </a:stretch>
        </p:blipFill>
        <p:spPr>
          <a:xfrm>
            <a:off x="3878900" y="1465224"/>
            <a:ext cx="4744650" cy="4218975"/>
          </a:xfrm>
          <a:prstGeom prst="rect">
            <a:avLst/>
          </a:prstGeom>
          <a:noFill/>
          <a:ln>
            <a:noFill/>
          </a:ln>
        </p:spPr>
      </p:pic>
      <p:sp>
        <p:nvSpPr>
          <p:cNvPr id="69" name="Google Shape;69;g3ee237ec3c6_0_6"/>
          <p:cNvSpPr/>
          <p:nvPr/>
        </p:nvSpPr>
        <p:spPr>
          <a:xfrm>
            <a:off x="7125200" y="2598900"/>
            <a:ext cx="1197000" cy="592200"/>
          </a:xfrm>
          <a:prstGeom prst="ellipse">
            <a:avLst/>
          </a:prstGeom>
          <a:noFill/>
          <a:ln w="9525" cap="flat" cmpd="sng">
            <a:solidFill>
              <a:srgbClr val="C40D1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文本框 2">
            <a:extLst>
              <a:ext uri="{FF2B5EF4-FFF2-40B4-BE49-F238E27FC236}">
                <a16:creationId xmlns:a16="http://schemas.microsoft.com/office/drawing/2014/main" id="{B52A5482-3E0E-A41A-073F-9DC418CAB478}"/>
              </a:ext>
            </a:extLst>
          </p:cNvPr>
          <p:cNvSpPr txBox="1"/>
          <p:nvPr/>
        </p:nvSpPr>
        <p:spPr>
          <a:xfrm>
            <a:off x="477650" y="5525925"/>
            <a:ext cx="8816454" cy="566758"/>
          </a:xfrm>
          <a:prstGeom prst="rect">
            <a:avLst/>
          </a:prstGeom>
          <a:noFill/>
        </p:spPr>
        <p:txBody>
          <a:bodyPr wrap="square">
            <a:spAutoFit/>
          </a:bodyPr>
          <a:lstStyle/>
          <a:p>
            <a:pPr marL="0" lvl="0" indent="0" algn="l" rtl="0">
              <a:lnSpc>
                <a:spcPct val="115000"/>
              </a:lnSpc>
              <a:spcAft>
                <a:spcPts val="0"/>
              </a:spcAft>
              <a:buNone/>
            </a:pPr>
            <a:r>
              <a:rPr lang="en-US" altLang="zh-CN" sz="1400" dirty="0"/>
              <a:t>[2] Saaty, T. L. (1980). The analytic hierarchy process: Planning, priority setting, resource allocation. McGraw-Hill International Book Company.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3ee237ec3c6_2_4"/>
          <p:cNvSpPr txBox="1">
            <a:spLocks noGrp="1"/>
          </p:cNvSpPr>
          <p:nvPr>
            <p:ph type="body" idx="3"/>
          </p:nvPr>
        </p:nvSpPr>
        <p:spPr>
          <a:xfrm>
            <a:off x="555867" y="396545"/>
            <a:ext cx="8311800" cy="717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de-DE"/>
              <a:t>Findings</a:t>
            </a:r>
            <a:endParaRPr/>
          </a:p>
        </p:txBody>
      </p:sp>
      <p:pic>
        <p:nvPicPr>
          <p:cNvPr id="77" name="Google Shape;77;g3ee237ec3c6_2_4"/>
          <p:cNvPicPr preferRelativeResize="0"/>
          <p:nvPr/>
        </p:nvPicPr>
        <p:blipFill>
          <a:blip r:embed="rId3">
            <a:alphaModFix/>
          </a:blip>
          <a:stretch>
            <a:fillRect/>
          </a:stretch>
        </p:blipFill>
        <p:spPr>
          <a:xfrm>
            <a:off x="0" y="2216082"/>
            <a:ext cx="11887198" cy="2425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3ee237ec3c6_1_0"/>
          <p:cNvSpPr txBox="1">
            <a:spLocks noGrp="1"/>
          </p:cNvSpPr>
          <p:nvPr>
            <p:ph type="body" idx="3"/>
          </p:nvPr>
        </p:nvSpPr>
        <p:spPr>
          <a:xfrm>
            <a:off x="507442" y="202820"/>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Cost-based fare estimation for S8 </a:t>
            </a:r>
            <a:endParaRPr/>
          </a:p>
        </p:txBody>
      </p:sp>
      <p:graphicFrame>
        <p:nvGraphicFramePr>
          <p:cNvPr id="83" name="Google Shape;83;g3ee237ec3c6_1_0"/>
          <p:cNvGraphicFramePr/>
          <p:nvPr/>
        </p:nvGraphicFramePr>
        <p:xfrm>
          <a:off x="1227700" y="2316925"/>
          <a:ext cx="9736575" cy="2196950"/>
        </p:xfrm>
        <a:graphic>
          <a:graphicData uri="http://schemas.openxmlformats.org/drawingml/2006/table">
            <a:tbl>
              <a:tblPr>
                <a:noFill/>
                <a:tableStyleId>{178D25FB-97F6-4ED2-9C48-11C8622453E8}</a:tableStyleId>
              </a:tblPr>
              <a:tblGrid>
                <a:gridCol w="1407700">
                  <a:extLst>
                    <a:ext uri="{9D8B030D-6E8A-4147-A177-3AD203B41FA5}">
                      <a16:colId xmlns:a16="http://schemas.microsoft.com/office/drawing/2014/main" val="20000"/>
                    </a:ext>
                  </a:extLst>
                </a:gridCol>
                <a:gridCol w="2614250">
                  <a:extLst>
                    <a:ext uri="{9D8B030D-6E8A-4147-A177-3AD203B41FA5}">
                      <a16:colId xmlns:a16="http://schemas.microsoft.com/office/drawing/2014/main" val="20001"/>
                    </a:ext>
                  </a:extLst>
                </a:gridCol>
                <a:gridCol w="5714625">
                  <a:extLst>
                    <a:ext uri="{9D8B030D-6E8A-4147-A177-3AD203B41FA5}">
                      <a16:colId xmlns:a16="http://schemas.microsoft.com/office/drawing/2014/main" val="20002"/>
                    </a:ext>
                  </a:extLst>
                </a:gridCol>
              </a:tblGrid>
              <a:tr h="341300">
                <a:tc>
                  <a:txBody>
                    <a:bodyPr/>
                    <a:lstStyle/>
                    <a:p>
                      <a:pPr marL="0" lvl="0" indent="0" algn="ctr" rtl="0">
                        <a:lnSpc>
                          <a:spcPct val="115000"/>
                        </a:lnSpc>
                        <a:spcBef>
                          <a:spcPts val="0"/>
                        </a:spcBef>
                        <a:spcAft>
                          <a:spcPts val="0"/>
                        </a:spcAft>
                        <a:buNone/>
                      </a:pPr>
                      <a:r>
                        <a:rPr lang="de-DE" sz="1600" b="1"/>
                        <a:t>Parameter</a:t>
                      </a:r>
                      <a:endParaRPr sz="16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3F3F3"/>
                    </a:solidFill>
                  </a:tcPr>
                </a:tc>
                <a:tc>
                  <a:txBody>
                    <a:bodyPr/>
                    <a:lstStyle/>
                    <a:p>
                      <a:pPr marL="0" lvl="0" indent="0" algn="ctr" rtl="0">
                        <a:lnSpc>
                          <a:spcPct val="115000"/>
                        </a:lnSpc>
                        <a:spcBef>
                          <a:spcPts val="0"/>
                        </a:spcBef>
                        <a:spcAft>
                          <a:spcPts val="0"/>
                        </a:spcAft>
                        <a:buNone/>
                      </a:pPr>
                      <a:r>
                        <a:rPr lang="de-DE" sz="1600" b="1"/>
                        <a:t>Assumption</a:t>
                      </a:r>
                      <a:endParaRPr sz="16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3F3F3"/>
                    </a:solidFill>
                  </a:tcPr>
                </a:tc>
                <a:tc>
                  <a:txBody>
                    <a:bodyPr/>
                    <a:lstStyle/>
                    <a:p>
                      <a:pPr marL="0" lvl="0" indent="0" algn="ctr" rtl="0">
                        <a:lnSpc>
                          <a:spcPct val="115000"/>
                        </a:lnSpc>
                        <a:spcBef>
                          <a:spcPts val="0"/>
                        </a:spcBef>
                        <a:spcAft>
                          <a:spcPts val="0"/>
                        </a:spcAft>
                        <a:buNone/>
                      </a:pPr>
                      <a:r>
                        <a:rPr lang="de-DE" sz="1600" b="1"/>
                        <a:t>Basis</a:t>
                      </a:r>
                      <a:endParaRPr sz="16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393550">
                <a:tc>
                  <a:txBody>
                    <a:bodyPr/>
                    <a:lstStyle/>
                    <a:p>
                      <a:pPr marL="0" lvl="0" indent="0" algn="ctr" rtl="0">
                        <a:spcBef>
                          <a:spcPts val="0"/>
                        </a:spcBef>
                        <a:spcAft>
                          <a:spcPts val="0"/>
                        </a:spcAft>
                        <a:buNone/>
                      </a:pPr>
                      <a:r>
                        <a:rPr lang="de-DE" sz="1600"/>
                        <a:t>c_h</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600"/>
                        <a:t>25 €/vehicle-hour</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600"/>
                        <a:t>driver wage + employer contribution</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3550">
                <a:tc>
                  <a:txBody>
                    <a:bodyPr/>
                    <a:lstStyle/>
                    <a:p>
                      <a:pPr marL="0" lvl="0" indent="0" algn="ctr" rtl="0">
                        <a:spcBef>
                          <a:spcPts val="0"/>
                        </a:spcBef>
                        <a:spcAft>
                          <a:spcPts val="0"/>
                        </a:spcAft>
                        <a:buNone/>
                      </a:pPr>
                      <a:r>
                        <a:rPr lang="de-DE" sz="1600"/>
                        <a:t>c_km</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600"/>
                        <a:t>0.917 €/vehicle-km</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600"/>
                        <a:t>ADAC Vito Tourer total car cost</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3550">
                <a:tc>
                  <a:txBody>
                    <a:bodyPr/>
                    <a:lstStyle/>
                    <a:p>
                      <a:pPr marL="0" lvl="0" indent="0" algn="ctr" rtl="0">
                        <a:spcBef>
                          <a:spcPts val="0"/>
                        </a:spcBef>
                        <a:spcAft>
                          <a:spcPts val="0"/>
                        </a:spcAft>
                        <a:buNone/>
                      </a:pPr>
                      <a:r>
                        <a:rPr lang="de-DE" sz="1600"/>
                        <a:t>c_v</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600"/>
                        <a:t>841 €/vehicle-month</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600"/>
                        <a:t>depreciation + insurance</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3550">
                <a:tc>
                  <a:txBody>
                    <a:bodyPr/>
                    <a:lstStyle/>
                    <a:p>
                      <a:pPr marL="0" lvl="0" indent="0" algn="ctr" rtl="0">
                        <a:spcBef>
                          <a:spcPts val="0"/>
                        </a:spcBef>
                        <a:spcAft>
                          <a:spcPts val="0"/>
                        </a:spcAft>
                        <a:buNone/>
                      </a:pPr>
                      <a:r>
                        <a:rPr lang="de-DE" sz="1600" dirty="0"/>
                        <a:t>Overhead</a:t>
                      </a:r>
                      <a:endParaRPr sz="16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600"/>
                        <a:t>× 1.10</a:t>
                      </a:r>
                      <a:endParaRPr sz="16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600" dirty="0"/>
                        <a:t>dispatching, customer service, administration</a:t>
                      </a:r>
                      <a:endParaRPr sz="16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4" name="Google Shape;84;g3ee237ec3c6_1_0"/>
          <p:cNvSpPr txBox="1"/>
          <p:nvPr/>
        </p:nvSpPr>
        <p:spPr>
          <a:xfrm>
            <a:off x="569586" y="4747153"/>
            <a:ext cx="10731688" cy="89252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de-DE" sz="2000" dirty="0"/>
              <a:t>Estimated annual total cost ≈ 65.09 million €/year</a:t>
            </a:r>
            <a:endParaRPr sz="2000" dirty="0"/>
          </a:p>
          <a:p>
            <a:pPr marL="0" lvl="0" indent="0" algn="l" rtl="0">
              <a:lnSpc>
                <a:spcPct val="115000"/>
              </a:lnSpc>
              <a:spcBef>
                <a:spcPts val="0"/>
              </a:spcBef>
              <a:spcAft>
                <a:spcPts val="0"/>
              </a:spcAft>
              <a:buNone/>
            </a:pPr>
            <a:r>
              <a:rPr lang="de-DE" sz="2000" dirty="0"/>
              <a:t>Cost per ride ≈ 17.8 €/ride  </a:t>
            </a:r>
            <a:endParaRPr sz="2000" dirty="0"/>
          </a:p>
        </p:txBody>
      </p:sp>
      <p:sp>
        <p:nvSpPr>
          <p:cNvPr id="85" name="Google Shape;85;g3ee237ec3c6_1_0"/>
          <p:cNvSpPr txBox="1"/>
          <p:nvPr/>
        </p:nvSpPr>
        <p:spPr>
          <a:xfrm>
            <a:off x="440875" y="1218325"/>
            <a:ext cx="115218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DE" sz="2000"/>
              <a:t>Annual Total Cost = </a:t>
            </a:r>
            <a:endParaRPr sz="2000"/>
          </a:p>
          <a:p>
            <a:pPr marL="0" lvl="0" indent="0" algn="l" rtl="0">
              <a:spcBef>
                <a:spcPts val="0"/>
              </a:spcBef>
              <a:spcAft>
                <a:spcPts val="0"/>
              </a:spcAft>
              <a:buNone/>
            </a:pPr>
            <a:r>
              <a:rPr lang="de-DE" sz="2000"/>
              <a:t>cost/hour × annual vehicle-hours + cost/km × annual vehicle-km + cost/vehicle × number of vehicles</a:t>
            </a:r>
            <a:endParaRPr sz="2000"/>
          </a:p>
        </p:txBody>
      </p:sp>
      <p:sp>
        <p:nvSpPr>
          <p:cNvPr id="3" name="文本框 2">
            <a:extLst>
              <a:ext uri="{FF2B5EF4-FFF2-40B4-BE49-F238E27FC236}">
                <a16:creationId xmlns:a16="http://schemas.microsoft.com/office/drawing/2014/main" id="{CA34CD0B-D956-8FAD-90A4-CEEA68F87CB1}"/>
              </a:ext>
            </a:extLst>
          </p:cNvPr>
          <p:cNvSpPr txBox="1"/>
          <p:nvPr/>
        </p:nvSpPr>
        <p:spPr>
          <a:xfrm>
            <a:off x="10374773" y="1963275"/>
            <a:ext cx="720258" cy="307777"/>
          </a:xfrm>
          <a:prstGeom prst="rect">
            <a:avLst/>
          </a:prstGeom>
          <a:noFill/>
        </p:spPr>
        <p:txBody>
          <a:bodyPr wrap="square">
            <a:spAutoFit/>
          </a:bodyPr>
          <a:lstStyle/>
          <a:p>
            <a:r>
              <a:rPr lang="en-US" altLang="zh-CN" sz="1400" dirty="0"/>
              <a:t>[3]-[7] </a:t>
            </a:r>
            <a:endParaRPr lang="zh-CN" altLang="en-US" dirty="0"/>
          </a:p>
        </p:txBody>
      </p:sp>
      <p:sp>
        <p:nvSpPr>
          <p:cNvPr id="6" name="文本框 5">
            <a:extLst>
              <a:ext uri="{FF2B5EF4-FFF2-40B4-BE49-F238E27FC236}">
                <a16:creationId xmlns:a16="http://schemas.microsoft.com/office/drawing/2014/main" id="{A2241197-712A-3561-53FF-2326E02F4607}"/>
              </a:ext>
            </a:extLst>
          </p:cNvPr>
          <p:cNvSpPr txBox="1"/>
          <p:nvPr/>
        </p:nvSpPr>
        <p:spPr>
          <a:xfrm>
            <a:off x="569586" y="5639675"/>
            <a:ext cx="8818958" cy="318998"/>
          </a:xfrm>
          <a:prstGeom prst="rect">
            <a:avLst/>
          </a:prstGeom>
          <a:noFill/>
        </p:spPr>
        <p:txBody>
          <a:bodyPr wrap="square">
            <a:spAutoFit/>
          </a:bodyPr>
          <a:lstStyle/>
          <a:p>
            <a:pPr marL="0" lvl="0" indent="0" algn="l" rtl="0">
              <a:lnSpc>
                <a:spcPct val="115000"/>
              </a:lnSpc>
              <a:spcAft>
                <a:spcPts val="0"/>
              </a:spcAft>
              <a:buNone/>
            </a:pPr>
            <a:r>
              <a:rPr lang="en-US" altLang="zh-CN" sz="1400" dirty="0"/>
              <a:t>[3] McCollom, B., &amp; Polin, L. (1988). Cost analysis methodology for demand-responsive service.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a:spLocks noGrp="1"/>
          </p:cNvSpPr>
          <p:nvPr>
            <p:ph type="body" idx="3"/>
          </p:nvPr>
        </p:nvSpPr>
        <p:spPr>
          <a:xfrm>
            <a:off x="588167" y="240820"/>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Fare competitiveness </a:t>
            </a:r>
            <a:endParaRPr/>
          </a:p>
        </p:txBody>
      </p:sp>
      <p:sp>
        <p:nvSpPr>
          <p:cNvPr id="91" name="Google Shape;91;p5"/>
          <p:cNvSpPr txBox="1"/>
          <p:nvPr/>
        </p:nvSpPr>
        <p:spPr>
          <a:xfrm>
            <a:off x="588175" y="1146225"/>
            <a:ext cx="10341300" cy="135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de-DE" sz="2000"/>
              <a:t>To fully cover the estimated annual operating cost, the DRT fare would need to be set at approximately: </a:t>
            </a:r>
            <a:r>
              <a:rPr lang="de-DE" sz="2000" b="1"/>
              <a:t>18 € per ride</a:t>
            </a:r>
            <a:endParaRPr sz="2000" b="1"/>
          </a:p>
          <a:p>
            <a:pPr marL="0" lvl="0" indent="0" algn="l" rtl="0">
              <a:spcBef>
                <a:spcPts val="1200"/>
              </a:spcBef>
              <a:spcAft>
                <a:spcPts val="0"/>
              </a:spcAft>
              <a:buNone/>
            </a:pPr>
            <a:endParaRPr sz="2000"/>
          </a:p>
        </p:txBody>
      </p:sp>
      <p:graphicFrame>
        <p:nvGraphicFramePr>
          <p:cNvPr id="92" name="Google Shape;92;p5"/>
          <p:cNvGraphicFramePr/>
          <p:nvPr/>
        </p:nvGraphicFramePr>
        <p:xfrm>
          <a:off x="1921000" y="2186050"/>
          <a:ext cx="8063150" cy="2357605"/>
        </p:xfrm>
        <a:graphic>
          <a:graphicData uri="http://schemas.openxmlformats.org/drawingml/2006/table">
            <a:tbl>
              <a:tblPr>
                <a:noFill/>
                <a:tableStyleId>{178D25FB-97F6-4ED2-9C48-11C8622453E8}</a:tableStyleId>
              </a:tblPr>
              <a:tblGrid>
                <a:gridCol w="6291500">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tblGrid>
              <a:tr h="400300">
                <a:tc>
                  <a:txBody>
                    <a:bodyPr/>
                    <a:lstStyle/>
                    <a:p>
                      <a:pPr marL="0" lvl="0" indent="0" algn="ctr" rtl="0">
                        <a:lnSpc>
                          <a:spcPct val="115000"/>
                        </a:lnSpc>
                        <a:spcBef>
                          <a:spcPts val="0"/>
                        </a:spcBef>
                        <a:spcAft>
                          <a:spcPts val="0"/>
                        </a:spcAft>
                        <a:buNone/>
                      </a:pPr>
                      <a:r>
                        <a:rPr lang="de-DE" sz="1800" b="1"/>
                        <a:t>Mode / fare type</a:t>
                      </a:r>
                      <a:endParaRPr sz="1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3F3F3"/>
                    </a:solidFill>
                  </a:tcPr>
                </a:tc>
                <a:tc>
                  <a:txBody>
                    <a:bodyPr/>
                    <a:lstStyle/>
                    <a:p>
                      <a:pPr marL="0" lvl="0" indent="0" algn="ctr" rtl="0">
                        <a:lnSpc>
                          <a:spcPct val="115000"/>
                        </a:lnSpc>
                        <a:spcBef>
                          <a:spcPts val="0"/>
                        </a:spcBef>
                        <a:spcAft>
                          <a:spcPts val="0"/>
                        </a:spcAft>
                        <a:buNone/>
                      </a:pPr>
                      <a:r>
                        <a:rPr lang="de-DE" sz="1800" b="1"/>
                        <a:t>Fare level</a:t>
                      </a:r>
                      <a:endParaRPr sz="1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00300">
                <a:tc>
                  <a:txBody>
                    <a:bodyPr/>
                    <a:lstStyle/>
                    <a:p>
                      <a:pPr marL="0" lvl="0" indent="0" algn="ctr" rtl="0">
                        <a:spcBef>
                          <a:spcPts val="0"/>
                        </a:spcBef>
                        <a:spcAft>
                          <a:spcPts val="0"/>
                        </a:spcAft>
                        <a:buNone/>
                      </a:pPr>
                      <a:r>
                        <a:rPr lang="de-DE" sz="1800"/>
                        <a:t>Cottbus public transport single ticket</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800"/>
                        <a:t>2.70 €</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0300">
                <a:tc>
                  <a:txBody>
                    <a:bodyPr/>
                    <a:lstStyle/>
                    <a:p>
                      <a:pPr marL="0" lvl="0" indent="0" algn="ctr" rtl="0">
                        <a:spcBef>
                          <a:spcPts val="0"/>
                        </a:spcBef>
                        <a:spcAft>
                          <a:spcPts val="0"/>
                        </a:spcAft>
                        <a:buNone/>
                      </a:pPr>
                      <a:r>
                        <a:rPr lang="de-DE" sz="1800"/>
                        <a:t>Cottbus 24-hour ticket</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800"/>
                        <a:t>5.60 €</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0300">
                <a:tc>
                  <a:txBody>
                    <a:bodyPr/>
                    <a:lstStyle/>
                    <a:p>
                      <a:pPr marL="0" lvl="0" indent="0" algn="ctr" rtl="0">
                        <a:spcBef>
                          <a:spcPts val="0"/>
                        </a:spcBef>
                        <a:spcAft>
                          <a:spcPts val="0"/>
                        </a:spcAft>
                        <a:buNone/>
                      </a:pPr>
                      <a:r>
                        <a:rPr lang="de-DE" sz="1800"/>
                        <a:t>Average 3.6 km taxi trip</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800"/>
                        <a:t>≈ 11.80 €</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0300">
                <a:tc>
                  <a:txBody>
                    <a:bodyPr/>
                    <a:lstStyle/>
                    <a:p>
                      <a:pPr marL="0" lvl="0" indent="0" algn="ctr" rtl="0">
                        <a:spcBef>
                          <a:spcPts val="0"/>
                        </a:spcBef>
                        <a:spcAft>
                          <a:spcPts val="0"/>
                        </a:spcAft>
                        <a:buNone/>
                      </a:pPr>
                      <a:r>
                        <a:rPr lang="de-DE" sz="1800"/>
                        <a:t>Full cost-recovery DRT fare</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800"/>
                        <a:t>18 €</a:t>
                      </a:r>
                      <a:endParaRPr sz="1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3" name="Google Shape;93;p5"/>
          <p:cNvSpPr txBox="1"/>
          <p:nvPr/>
        </p:nvSpPr>
        <p:spPr>
          <a:xfrm>
            <a:off x="678025" y="4956225"/>
            <a:ext cx="10800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DE" sz="2000"/>
              <a:t>This fare is financially sustainable, but not competitive. Former bus users would very likely complain if they had to pay this fare. </a:t>
            </a:r>
            <a:endParaRPr sz="2000"/>
          </a:p>
        </p:txBody>
      </p:sp>
      <p:sp>
        <p:nvSpPr>
          <p:cNvPr id="3" name="文本框 2">
            <a:extLst>
              <a:ext uri="{FF2B5EF4-FFF2-40B4-BE49-F238E27FC236}">
                <a16:creationId xmlns:a16="http://schemas.microsoft.com/office/drawing/2014/main" id="{EEFD5A22-34BE-1DAF-6524-D85125D459E9}"/>
              </a:ext>
            </a:extLst>
          </p:cNvPr>
          <p:cNvSpPr txBox="1"/>
          <p:nvPr/>
        </p:nvSpPr>
        <p:spPr>
          <a:xfrm>
            <a:off x="678025" y="5756625"/>
            <a:ext cx="8816454" cy="566758"/>
          </a:xfrm>
          <a:prstGeom prst="rect">
            <a:avLst/>
          </a:prstGeom>
          <a:noFill/>
        </p:spPr>
        <p:txBody>
          <a:bodyPr wrap="square">
            <a:spAutoFit/>
          </a:bodyPr>
          <a:lstStyle/>
          <a:p>
            <a:pPr marL="0" lvl="0" indent="0" algn="l" rtl="0">
              <a:lnSpc>
                <a:spcPct val="115000"/>
              </a:lnSpc>
              <a:spcAft>
                <a:spcPts val="0"/>
              </a:spcAft>
              <a:buNone/>
            </a:pPr>
            <a:r>
              <a:rPr lang="en-US" altLang="zh-CN" sz="1400" dirty="0"/>
              <a:t>[8] </a:t>
            </a:r>
            <a:r>
              <a:rPr lang="en-US" altLang="zh-CN" sz="1400" dirty="0" err="1"/>
              <a:t>Cottbusverkehr</a:t>
            </a:r>
            <a:r>
              <a:rPr lang="en-US" altLang="zh-CN" sz="1400" dirty="0"/>
              <a:t>. (n.d.). Moving Cottbus. Retrieved June 22, 2026, from https://www.cottbusverkehr.de/</a:t>
            </a:r>
          </a:p>
          <a:p>
            <a:pPr marL="0" lvl="0" indent="0" algn="l" rtl="0">
              <a:lnSpc>
                <a:spcPct val="115000"/>
              </a:lnSpc>
              <a:spcAft>
                <a:spcPts val="0"/>
              </a:spcAft>
              <a:buNone/>
            </a:pPr>
            <a:r>
              <a:rPr lang="en-US" altLang="zh-CN" sz="1400" dirty="0"/>
              <a:t>[9] Taxi-Calculator.com. (n.d.). Cottbus taxi fare calculator. Retrieved June 22,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g3ee237ec3c6_1_32"/>
          <p:cNvSpPr txBox="1">
            <a:spLocks noGrp="1"/>
          </p:cNvSpPr>
          <p:nvPr>
            <p:ph type="body" idx="3"/>
          </p:nvPr>
        </p:nvSpPr>
        <p:spPr>
          <a:xfrm>
            <a:off x="588167" y="240820"/>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de-DE"/>
              <a:t>How to reduce operational cost</a:t>
            </a:r>
            <a:endParaRPr/>
          </a:p>
        </p:txBody>
      </p:sp>
      <p:sp>
        <p:nvSpPr>
          <p:cNvPr id="99" name="Google Shape;99;g3ee237ec3c6_1_32"/>
          <p:cNvSpPr txBox="1"/>
          <p:nvPr/>
        </p:nvSpPr>
        <p:spPr>
          <a:xfrm>
            <a:off x="588175" y="1259250"/>
            <a:ext cx="11261700" cy="183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de-DE" sz="2000" b="1"/>
              <a:t>Why is the fare high?</a:t>
            </a:r>
            <a:endParaRPr sz="2000" b="1"/>
          </a:p>
          <a:p>
            <a:pPr marL="0" lvl="0" indent="0" algn="l" rtl="0">
              <a:lnSpc>
                <a:spcPct val="115000"/>
              </a:lnSpc>
              <a:spcBef>
                <a:spcPts val="1200"/>
              </a:spcBef>
              <a:spcAft>
                <a:spcPts val="0"/>
              </a:spcAft>
              <a:buNone/>
            </a:pPr>
            <a:r>
              <a:rPr lang="de-DE" sz="2000"/>
              <a:t>Driver cost accounts for about </a:t>
            </a:r>
            <a:r>
              <a:rPr lang="de-DE" sz="2000" b="1"/>
              <a:t>67%</a:t>
            </a:r>
            <a:r>
              <a:rPr lang="de-DE" sz="2000"/>
              <a:t> of total operating cost.</a:t>
            </a:r>
            <a:br>
              <a:rPr lang="de-DE" sz="2000"/>
            </a:br>
            <a:r>
              <a:rPr lang="de-DE" sz="2000"/>
              <a:t>Passengers pay not only for their own ride, but also for the availability of the whole DRT fleet.</a:t>
            </a:r>
            <a:endParaRPr sz="2000"/>
          </a:p>
          <a:p>
            <a:pPr marL="0" lvl="0" indent="0" algn="l" rtl="0">
              <a:lnSpc>
                <a:spcPct val="115833"/>
              </a:lnSpc>
              <a:spcBef>
                <a:spcPts val="1200"/>
              </a:spcBef>
              <a:spcAft>
                <a:spcPts val="800"/>
              </a:spcAft>
              <a:buNone/>
            </a:pPr>
            <a:endParaRPr sz="1800">
              <a:latin typeface="等线"/>
              <a:ea typeface="等线"/>
              <a:cs typeface="等线"/>
              <a:sym typeface="等线"/>
            </a:endParaRPr>
          </a:p>
        </p:txBody>
      </p:sp>
      <p:sp>
        <p:nvSpPr>
          <p:cNvPr id="100" name="Google Shape;100;g3ee237ec3c6_1_32"/>
          <p:cNvSpPr txBox="1"/>
          <p:nvPr/>
        </p:nvSpPr>
        <p:spPr>
          <a:xfrm>
            <a:off x="647400" y="2889800"/>
            <a:ext cx="10897200" cy="2539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de-DE" sz="2000" b="1"/>
              <a:t>How to reduce cost?</a:t>
            </a:r>
            <a:endParaRPr sz="2000" b="1"/>
          </a:p>
          <a:p>
            <a:pPr marL="457200" lvl="0" indent="-355600" algn="l" rtl="0">
              <a:lnSpc>
                <a:spcPct val="115000"/>
              </a:lnSpc>
              <a:spcBef>
                <a:spcPts val="1200"/>
              </a:spcBef>
              <a:spcAft>
                <a:spcPts val="0"/>
              </a:spcAft>
              <a:buSzPts val="2000"/>
              <a:buChar char="●"/>
            </a:pPr>
            <a:r>
              <a:rPr lang="de-DE" sz="2000"/>
              <a:t>Dynamic fleet operation: more vehicles in peak hours, fewer vehicles off-peak</a:t>
            </a:r>
            <a:endParaRPr sz="2000"/>
          </a:p>
          <a:p>
            <a:pPr marL="457200" lvl="0" indent="-355600" algn="l" rtl="0">
              <a:lnSpc>
                <a:spcPct val="115000"/>
              </a:lnSpc>
              <a:spcBef>
                <a:spcPts val="0"/>
              </a:spcBef>
              <a:spcAft>
                <a:spcPts val="0"/>
              </a:spcAft>
              <a:buSzPts val="2000"/>
              <a:buChar char="●"/>
            </a:pPr>
            <a:r>
              <a:rPr lang="de-DE" sz="2000"/>
              <a:t>Relax waiting-time target: slightly longer waits, fewer required vehicles</a:t>
            </a:r>
            <a:endParaRPr sz="2000"/>
          </a:p>
          <a:p>
            <a:pPr marL="457200" lvl="0" indent="-355600" algn="l" rtl="0">
              <a:lnSpc>
                <a:spcPct val="115000"/>
              </a:lnSpc>
              <a:spcBef>
                <a:spcPts val="0"/>
              </a:spcBef>
              <a:spcAft>
                <a:spcPts val="0"/>
              </a:spcAft>
              <a:buSzPts val="2000"/>
              <a:buChar char="●"/>
            </a:pPr>
            <a:r>
              <a:rPr lang="de-DE" sz="2000"/>
              <a:t>Mixed fleet: cheaper 4-seat or 6-seat vehicles where possible</a:t>
            </a:r>
            <a:endParaRPr sz="2000"/>
          </a:p>
          <a:p>
            <a:pPr marL="457200" lvl="0" indent="-355600" algn="l" rtl="0">
              <a:lnSpc>
                <a:spcPct val="115000"/>
              </a:lnSpc>
              <a:spcBef>
                <a:spcPts val="0"/>
              </a:spcBef>
              <a:spcAft>
                <a:spcPts val="0"/>
              </a:spcAft>
              <a:buSzPts val="2000"/>
              <a:buChar char="●"/>
            </a:pPr>
            <a:r>
              <a:rPr lang="de-DE" sz="2000"/>
              <a:t>Automated DRT: long-term option to remove driver cost</a:t>
            </a:r>
            <a:endParaRPr sz="2000"/>
          </a:p>
          <a:p>
            <a:pPr marL="0" lvl="0" indent="0" algn="l" rtl="0">
              <a:spcBef>
                <a:spcPts val="1200"/>
              </a:spcBef>
              <a:spcAft>
                <a:spcPts val="0"/>
              </a:spcAft>
              <a:buNone/>
            </a:pP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240E9F96-BCAF-3F44-0D0F-D600FCE6E258}"/>
            </a:ext>
          </a:extLst>
        </p:cNvPr>
        <p:cNvGrpSpPr/>
        <p:nvPr/>
      </p:nvGrpSpPr>
      <p:grpSpPr>
        <a:xfrm>
          <a:off x="0" y="0"/>
          <a:ext cx="0" cy="0"/>
          <a:chOff x="0" y="0"/>
          <a:chExt cx="0" cy="0"/>
        </a:xfrm>
      </p:grpSpPr>
      <p:sp>
        <p:nvSpPr>
          <p:cNvPr id="98" name="Google Shape;98;g3ee237ec3c6_1_32">
            <a:extLst>
              <a:ext uri="{FF2B5EF4-FFF2-40B4-BE49-F238E27FC236}">
                <a16:creationId xmlns:a16="http://schemas.microsoft.com/office/drawing/2014/main" id="{18C44060-6215-0C63-5245-3157B6EB8392}"/>
              </a:ext>
            </a:extLst>
          </p:cNvPr>
          <p:cNvSpPr txBox="1">
            <a:spLocks noGrp="1"/>
          </p:cNvSpPr>
          <p:nvPr>
            <p:ph type="body" idx="3"/>
          </p:nvPr>
        </p:nvSpPr>
        <p:spPr>
          <a:xfrm>
            <a:off x="588167" y="240820"/>
            <a:ext cx="8311800" cy="717300"/>
          </a:xfrm>
          <a:prstGeom prst="rect">
            <a:avLst/>
          </a:prstGeom>
          <a:noFill/>
          <a:ln>
            <a:noFill/>
          </a:ln>
        </p:spPr>
        <p:txBody>
          <a:bodyPr spcFirstLastPara="1" wrap="square" lIns="0" tIns="0" rIns="0" bIns="0" anchor="b" anchorCtr="0">
            <a:noAutofit/>
          </a:bodyPr>
          <a:lstStyle/>
          <a:p>
            <a:pPr marL="0" lvl="0" indent="0" algn="l" rtl="0">
              <a:lnSpc>
                <a:spcPct val="116666"/>
              </a:lnSpc>
              <a:spcBef>
                <a:spcPts val="0"/>
              </a:spcBef>
              <a:spcAft>
                <a:spcPts val="0"/>
              </a:spcAft>
              <a:buClr>
                <a:srgbClr val="C40D1E"/>
              </a:buClr>
              <a:buSzPts val="2400"/>
              <a:buNone/>
            </a:pPr>
            <a:r>
              <a:rPr lang="en-US" altLang="zh-CN" dirty="0"/>
              <a:t>Reference</a:t>
            </a:r>
            <a:endParaRPr dirty="0"/>
          </a:p>
        </p:txBody>
      </p:sp>
      <p:sp>
        <p:nvSpPr>
          <p:cNvPr id="99" name="Google Shape;99;g3ee237ec3c6_1_32">
            <a:extLst>
              <a:ext uri="{FF2B5EF4-FFF2-40B4-BE49-F238E27FC236}">
                <a16:creationId xmlns:a16="http://schemas.microsoft.com/office/drawing/2014/main" id="{08DF67A4-7454-3846-2919-4F9B636781BC}"/>
              </a:ext>
            </a:extLst>
          </p:cNvPr>
          <p:cNvSpPr txBox="1"/>
          <p:nvPr/>
        </p:nvSpPr>
        <p:spPr>
          <a:xfrm>
            <a:off x="588167" y="1146482"/>
            <a:ext cx="11261700" cy="54706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Aft>
                <a:spcPts val="0"/>
              </a:spcAft>
              <a:buNone/>
            </a:pPr>
            <a:r>
              <a:rPr lang="en-US" sz="1800" dirty="0"/>
              <a:t>[1] Liyanage, S., Dia, H., &amp; Duncan, G. (2025). AI-powered evaluation of on-demand public transport: A hybrid simulation approach. Smart Cities, 9(1), Article 4. </a:t>
            </a:r>
          </a:p>
          <a:p>
            <a:pPr marL="0" lvl="0" indent="0" algn="l" rtl="0">
              <a:lnSpc>
                <a:spcPct val="115000"/>
              </a:lnSpc>
              <a:spcAft>
                <a:spcPts val="0"/>
              </a:spcAft>
              <a:buNone/>
            </a:pPr>
            <a:r>
              <a:rPr lang="en-US" sz="1800" dirty="0"/>
              <a:t>[2] Saaty, T. L. (1980). The analytic hierarchy process: Planning, priority setting, resource allocation. McGraw-Hill International Book Company.</a:t>
            </a:r>
          </a:p>
          <a:p>
            <a:pPr marL="0" lvl="0" indent="0" algn="l" rtl="0">
              <a:lnSpc>
                <a:spcPct val="115000"/>
              </a:lnSpc>
              <a:spcAft>
                <a:spcPts val="0"/>
              </a:spcAft>
              <a:buNone/>
            </a:pPr>
            <a:r>
              <a:rPr lang="en-US" sz="1800" dirty="0"/>
              <a:t>[3] McCollom, B., &amp; Polin, L. (1988). Cost analysis methodology for demand-responsive service.</a:t>
            </a:r>
          </a:p>
          <a:p>
            <a:pPr marL="0" lvl="0" indent="0" algn="l" rtl="0">
              <a:lnSpc>
                <a:spcPct val="115000"/>
              </a:lnSpc>
              <a:spcAft>
                <a:spcPts val="0"/>
              </a:spcAft>
              <a:buNone/>
            </a:pPr>
            <a:r>
              <a:rPr lang="en-US" sz="1800" dirty="0"/>
              <a:t>[4] </a:t>
            </a:r>
            <a:r>
              <a:rPr lang="en-US" sz="1800" dirty="0" err="1"/>
              <a:t>Bundesagentur</a:t>
            </a:r>
            <a:r>
              <a:rPr lang="en-US" sz="1800" dirty="0"/>
              <a:t> </a:t>
            </a:r>
            <a:r>
              <a:rPr lang="en-US" sz="1800" dirty="0" err="1"/>
              <a:t>fuer</a:t>
            </a:r>
            <a:r>
              <a:rPr lang="en-US" sz="1800" dirty="0"/>
              <a:t> Arbeit. (n.d.). </a:t>
            </a:r>
            <a:r>
              <a:rPr lang="en-US" sz="1800" dirty="0" err="1"/>
              <a:t>Busfahrer</a:t>
            </a:r>
            <a:r>
              <a:rPr lang="en-US" sz="1800" dirty="0"/>
              <a:t>/in. </a:t>
            </a:r>
            <a:r>
              <a:rPr lang="en-US" sz="1800" dirty="0" err="1"/>
              <a:t>Entgeltatlas</a:t>
            </a:r>
            <a:r>
              <a:rPr lang="en-US" sz="1800" dirty="0"/>
              <a:t>. Retrieved June 22, 2026, from https://web.arbeitsagentur.de/entgeltatlas/</a:t>
            </a:r>
          </a:p>
          <a:p>
            <a:pPr marL="0" lvl="0" indent="0" algn="l" rtl="0">
              <a:lnSpc>
                <a:spcPct val="115000"/>
              </a:lnSpc>
              <a:spcAft>
                <a:spcPts val="0"/>
              </a:spcAft>
              <a:buNone/>
            </a:pPr>
            <a:r>
              <a:rPr lang="en-US" sz="1800" dirty="0"/>
              <a:t>[5] Germany Trade &amp; Invest. (2026). Social insurance system. Retrieved June 22, 2026, from https://www.gtai.de/en/invest/investment-guide/social-insurance-system--660212</a:t>
            </a:r>
          </a:p>
          <a:p>
            <a:pPr marL="0" lvl="0" indent="0" algn="l" rtl="0">
              <a:lnSpc>
                <a:spcPct val="115000"/>
              </a:lnSpc>
              <a:spcAft>
                <a:spcPts val="0"/>
              </a:spcAft>
              <a:buNone/>
            </a:pPr>
            <a:r>
              <a:rPr lang="en-US" sz="1800" dirty="0"/>
              <a:t>[6] ADAC. (n.d.). </a:t>
            </a:r>
            <a:r>
              <a:rPr lang="en-US" sz="1800" dirty="0" err="1"/>
              <a:t>Autokostenuebersicht</a:t>
            </a:r>
            <a:r>
              <a:rPr lang="en-US" sz="1800" dirty="0"/>
              <a:t> [PDF]. Retrieved June 22, 2026, from https://assets.adac.de/Autodatenbank/Autokosten/autokostenuebersicht.pdf</a:t>
            </a:r>
          </a:p>
          <a:p>
            <a:pPr marL="0" lvl="0" indent="0" algn="l" rtl="0">
              <a:lnSpc>
                <a:spcPct val="115000"/>
              </a:lnSpc>
              <a:spcAft>
                <a:spcPts val="0"/>
              </a:spcAft>
              <a:buNone/>
            </a:pPr>
            <a:r>
              <a:rPr lang="en-US" sz="1800" dirty="0"/>
              <a:t>[7] DREAM_PACE. (2023). D2.1.1 analysis report on DRT digital and operational innovations in CE regions and engaged areas (Final version). Interreg Central Europe.</a:t>
            </a:r>
          </a:p>
          <a:p>
            <a:pPr marL="0" lvl="0" indent="0" algn="l" rtl="0">
              <a:lnSpc>
                <a:spcPct val="115000"/>
              </a:lnSpc>
              <a:spcAft>
                <a:spcPts val="0"/>
              </a:spcAft>
              <a:buNone/>
            </a:pPr>
            <a:r>
              <a:rPr lang="en-US" sz="1800" dirty="0"/>
              <a:t>[8] </a:t>
            </a:r>
            <a:r>
              <a:rPr lang="en-US" sz="1800" dirty="0" err="1"/>
              <a:t>Cottbusverkehr</a:t>
            </a:r>
            <a:r>
              <a:rPr lang="en-US" sz="1800" dirty="0"/>
              <a:t>. (n.d.). Moving Cottbus. Retrieved June 22, 2026, from https://www.cottbusverkehr.de/</a:t>
            </a:r>
          </a:p>
          <a:p>
            <a:pPr marL="0" lvl="0" indent="0" algn="l" rtl="0">
              <a:lnSpc>
                <a:spcPct val="115000"/>
              </a:lnSpc>
              <a:spcAft>
                <a:spcPts val="0"/>
              </a:spcAft>
              <a:buNone/>
            </a:pPr>
            <a:r>
              <a:rPr lang="en-US" sz="1800" dirty="0"/>
              <a:t>[9] Taxi-Calculator.com. (n.d.). Cottbus taxi fare calculator. Retrieved June 22, 2026.</a:t>
            </a:r>
          </a:p>
          <a:p>
            <a:pPr marL="0" lvl="0" indent="0" algn="l" rtl="0">
              <a:lnSpc>
                <a:spcPct val="115000"/>
              </a:lnSpc>
              <a:spcBef>
                <a:spcPts val="1200"/>
              </a:spcBef>
              <a:spcAft>
                <a:spcPts val="0"/>
              </a:spcAft>
              <a:buNone/>
            </a:pPr>
            <a:endParaRPr sz="2000" dirty="0"/>
          </a:p>
        </p:txBody>
      </p:sp>
    </p:spTree>
    <p:extLst>
      <p:ext uri="{BB962C8B-B14F-4D97-AF65-F5344CB8AC3E}">
        <p14:creationId xmlns:p14="http://schemas.microsoft.com/office/powerpoint/2010/main" val="1923039022"/>
      </p:ext>
    </p:extLst>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1663</Words>
  <Application>Microsoft Office PowerPoint</Application>
  <PresentationFormat>宽屏</PresentationFormat>
  <Paragraphs>90</Paragraphs>
  <Slides>9</Slides>
  <Notes>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9</vt:i4>
      </vt:variant>
    </vt:vector>
  </HeadingPairs>
  <TitlesOfParts>
    <vt:vector size="16" baseType="lpstr">
      <vt:lpstr>Roboto</vt:lpstr>
      <vt:lpstr>等线</vt:lpstr>
      <vt:lpstr>Arial</vt:lpstr>
      <vt:lpstr>Noto Sans Symbols</vt:lpstr>
      <vt:lpstr>Calibri</vt:lpstr>
      <vt:lpstr>Titelfolien zur Auswahl</vt:lpstr>
      <vt:lpstr>Master für Folgeseiten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Rülicke-Ahrens, Janine</dc:creator>
  <cp:lastModifiedBy>Alain Guillotin</cp:lastModifiedBy>
  <cp:revision>8</cp:revision>
  <dcterms:created xsi:type="dcterms:W3CDTF">2023-04-20T08:54:03Z</dcterms:created>
  <dcterms:modified xsi:type="dcterms:W3CDTF">2026-06-25T11:07:31Z</dcterms:modified>
</cp:coreProperties>
</file>